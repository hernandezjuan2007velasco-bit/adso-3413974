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a todos. Hoy les presentaré el proyecto SENA — Gestión de Horarios. Este sistema nace para solucionar un dolor de cabeza histórico en cualquier centro de formación: el choque de horarios, el cruce de profesores en diferentes aulas y la falta de información a tiempo para los aprendices. Hoy les mostraré de forma muy clara cómo funciona, quiénes lo usan y cómo cada una de sus 53 pantallas se conecta para hacer la vida más fácil a toda la comunidad del SENA.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¿Cuál es el problema que todos hemos vivido en el SENA? Organizar los horarios de cientos de fichas es como armar un rompecabezas a ciegas. Muchas veces un profesor termina programado en dos clases al mismo tiempo; dos grupos llegan al mismo laboratorio a pelearse el salón; o peor aún, el aprendiz llega a las 7 de la mañana y no tiene idea de en qué bloque le toca clase porque le cambiaron el salón a última hora y nadie le avisó. Nuestro sistema elimina este desorden de raíz.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no es una simple hoja de cálculo. Es un motor inteligente que conecta cuatro cosas: Ficha + Profesor + Salón + Hora. Si el coordinador comete un error, el sistema se lo bloquea de inmediato. Cuando el horario está perfecto y en verde, se publica y le llega automáticamente al celular de los aprendices y profesores con todos los detalles de aula, piso y docente.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que el sistema sea fácil de usar, nadie ve botones que no le corresponden. El Aprendiz solo ve sus clases y avisos. El Instructor gestiona su asistencia y sus permisos médicos. El Coordinador tiene las herramientas para armar los horarios. El Director supervisa las estadísticas del centro. Y el Administrador se encarga de los certificados en PDF y de configurar las carreras y salones.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Miremos el proceso del coordinador, que es el corazón del sistema. En solo cuatro pasos: primero selecciona la ficha que va a programar; segundo, va agregando las clases en una ventana muy sencilla donde elige la materia, el profesor y el salón; tercero, hace clic en 'Validar' para que el sistema revise que nadie se cruce; y cuarto, confirma la publicación oficial. Una vez publicado, ya nadie puede alterar el horario por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la mayor innovación técnica del proyecto: el semáforo de conflictos. Detecta automáticamente cinco tipos de problemas: si un profesor está duplicado, si el salón está ocupado, si se cruzan materias, si el aula está en mantenimiento y, algo fundamental en el SENA, si el profesor tiene que trasladarse entre dos sedes distintas y no le alcanza el tiempo de viaje. El coordinador debe justificar por escrito cómo arregló el cruce, asegurando una trazabilidad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instructor, el sistema le ahorra papeleo. Abre su horario semanal en el celular, ve en qué aula le toca y puede marcar qué clases dictó. Si tiene una cita médica o incapacidad, adjunta el PDF directamente en el sistema para que coordinación no le programe clases ese día. Además, pasa asistencia en menos de un minuto, alertando si el grupo tiene bajas asistencias.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aprendiz, la experiencia es limpia y directa. Entra y ve su horario de lunes a viernes. Al tocar la clase, ve el nombre del profesor, el bloque y el piso exacto del salón. Y si ocurre algún imprevisto y cambian de aula, le llega una notificación inmediata a su campanita con un botón que lo lleva directo a la clase actualizada.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dirección del centro, el sistema es una herramienta de toma de decisiones. El director no tiene que esperar a fin de año para saber si los aprendices están asistiendo. Mira un tablero con semáforos: verde para los grupos al día, amarillo para los que tienen inasistencias y rojo para los casos críticos. Esto permite llamar al aprendiz y apoyarlo antes de que decida abandonar su carrera.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parte administrativa, el sistema permite generar constancias oficiales en PDF con descarga segura y editar sus plantillas membretadas. Además, cuenta con un libro de auditoría que funciona como una caja negra de avión: registra qué usuario hizo cada cambio, a qué hora y por qué motivo, garantizando una transparencia absoluta ante cualquier auditoría.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pueden observar, las 53 pantallas del prototipo que diseñamos no son pantallas sueltas; forman un ecosistema cerrado de 7 módulos que cubren el ciclo de vida completo de un centro de formación: desde que entras al sistema, preparas las carreras, armas los horarios, dictas la clase, monitoreas el rendimiento y emites las certificaciones.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concluir: este proyecto no es solo un gestor de horarios; es una herramienta de transformación digital que moderniza la operación del SENA. Elimina las quejas por choques de salones, garantiza que los recursos públicos se aprovechen al máximo y le brinda a nuestros aprendices e instructores una experiencia transparente y confiable. Muchas gracias a todos, quedo abierto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image" Target="../media/image-5-2.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3203A"/>
          </a:solidFill>
          <a:ln/>
        </p:spPr>
      </p:sp>
      <p:sp>
        <p:nvSpPr>
          <p:cNvPr id="3" name="Shape 1"/>
          <p:cNvSpPr/>
          <p:nvPr/>
        </p:nvSpPr>
        <p:spPr>
          <a:xfrm>
            <a:off x="10607040" y="4754880"/>
            <a:ext cx="3108960" cy="3108960"/>
          </a:xfrm>
          <a:prstGeom prst="ellipse">
            <a:avLst/>
          </a:prstGeom>
          <a:solidFill>
            <a:srgbClr val="2C8500"/>
          </a:solidFill>
          <a:ln/>
        </p:spPr>
      </p:sp>
      <p:sp>
        <p:nvSpPr>
          <p:cNvPr id="4" name="Shape 2"/>
          <p:cNvSpPr/>
          <p:nvPr/>
        </p:nvSpPr>
        <p:spPr>
          <a:xfrm>
            <a:off x="-1280160" y="4206240"/>
            <a:ext cx="2926080" cy="2926080"/>
          </a:xfrm>
          <a:prstGeom prst="ellipse">
            <a:avLst/>
          </a:prstGeom>
          <a:solidFill>
            <a:srgbClr val="13203A"/>
          </a:solidFill>
          <a:ln/>
        </p:spPr>
      </p:sp>
      <p:sp>
        <p:nvSpPr>
          <p:cNvPr id="5" name="Text 3"/>
          <p:cNvSpPr/>
          <p:nvPr/>
        </p:nvSpPr>
        <p:spPr>
          <a:xfrm>
            <a:off x="640080" y="1965960"/>
            <a:ext cx="7315200" cy="548640"/>
          </a:xfrm>
          <a:prstGeom prst="rect">
            <a:avLst/>
          </a:prstGeom>
          <a:noFill/>
          <a:ln/>
        </p:spPr>
        <p:txBody>
          <a:bodyPr wrap="square" rtlCol="0" anchor="ctr"/>
          <a:lstStyle/>
          <a:p>
            <a:pPr indent="0" marL="0">
              <a:buNone/>
            </a:pPr>
            <a:r>
              <a:rPr lang="en-US" sz="2000" b="1" spc="400" kern="0" dirty="0">
                <a:solidFill>
                  <a:srgbClr val="39A900"/>
                </a:solidFill>
                <a:latin typeface="Calibri" pitchFamily="34" charset="0"/>
                <a:ea typeface="Calibri" pitchFamily="34" charset="-122"/>
                <a:cs typeface="Calibri" pitchFamily="34" charset="-120"/>
              </a:rPr>
              <a:t>SENA</a:t>
            </a:r>
            <a:endParaRPr lang="en-US" sz="2000" dirty="0"/>
          </a:p>
        </p:txBody>
      </p:sp>
      <p:sp>
        <p:nvSpPr>
          <p:cNvPr id="6" name="Text 4"/>
          <p:cNvSpPr/>
          <p:nvPr/>
        </p:nvSpPr>
        <p:spPr>
          <a:xfrm>
            <a:off x="594360" y="2423160"/>
            <a:ext cx="10515600" cy="12801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Gestión de Horarios</a:t>
            </a:r>
            <a:endParaRPr lang="en-US" sz="5400" dirty="0"/>
          </a:p>
        </p:txBody>
      </p:sp>
      <p:sp>
        <p:nvSpPr>
          <p:cNvPr id="7" name="Text 5"/>
          <p:cNvSpPr/>
          <p:nvPr/>
        </p:nvSpPr>
        <p:spPr>
          <a:xfrm>
            <a:off x="640080" y="3611880"/>
            <a:ext cx="8961120" cy="548640"/>
          </a:xfrm>
          <a:prstGeom prst="rect">
            <a:avLst/>
          </a:prstGeom>
          <a:noFill/>
          <a:ln/>
        </p:spPr>
        <p:txBody>
          <a:bodyPr wrap="square" rtlCol="0" anchor="ctr"/>
          <a:lstStyle/>
          <a:p>
            <a:pPr indent="0" marL="0">
              <a:buNone/>
            </a:pPr>
            <a:r>
              <a:rPr lang="en-US" sz="1900" i="1" dirty="0">
                <a:solidFill>
                  <a:srgbClr val="CFE8B8"/>
                </a:solidFill>
                <a:latin typeface="Calibri" pitchFamily="34" charset="0"/>
                <a:ea typeface="Calibri" pitchFamily="34" charset="-122"/>
                <a:cs typeface="Calibri" pitchFamily="34" charset="-120"/>
              </a:rPr>
              <a:t>Plataforma inteligente de programación académica y control operativo</a:t>
            </a:r>
            <a:endParaRPr lang="en-US" sz="1900" dirty="0"/>
          </a:p>
        </p:txBody>
      </p:sp>
      <p:sp>
        <p:nvSpPr>
          <p:cNvPr id="8" name="Text 6"/>
          <p:cNvSpPr/>
          <p:nvPr/>
        </p:nvSpPr>
        <p:spPr>
          <a:xfrm>
            <a:off x="640080" y="4617720"/>
            <a:ext cx="8229600" cy="457200"/>
          </a:xfrm>
          <a:prstGeom prst="rect">
            <a:avLst/>
          </a:prstGeom>
          <a:noFill/>
          <a:ln/>
        </p:spPr>
        <p:txBody>
          <a:bodyPr wrap="square" rtlCol="0" anchor="ctr"/>
          <a:lstStyle/>
          <a:p>
            <a:pPr indent="0" marL="0">
              <a:buNone/>
            </a:pPr>
            <a:r>
              <a:rPr lang="en-US" sz="1300" dirty="0">
                <a:solidFill>
                  <a:srgbClr val="AEB8C4"/>
                </a:solidFill>
                <a:latin typeface="Calibri" pitchFamily="34" charset="0"/>
                <a:ea typeface="Calibri" pitchFamily="34" charset="-122"/>
                <a:cs typeface="Calibri" pitchFamily="34" charset="-120"/>
              </a:rPr>
              <a:t>Explicación integral de procesos, roles y las 53 pantallas del sistema</a:t>
            </a:r>
            <a:endParaRPr lang="en-US" sz="1300" dirty="0"/>
          </a:p>
        </p:txBody>
      </p:sp>
      <p:sp>
        <p:nvSpPr>
          <p:cNvPr id="9" name="Text 7"/>
          <p:cNvSpPr/>
          <p:nvPr/>
        </p:nvSpPr>
        <p:spPr>
          <a:xfrm>
            <a:off x="640080" y="6126480"/>
            <a:ext cx="8229600" cy="365760"/>
          </a:xfrm>
          <a:prstGeom prst="rect">
            <a:avLst/>
          </a:prstGeom>
          <a:noFill/>
          <a:ln/>
        </p:spPr>
        <p:txBody>
          <a:bodyPr wrap="square" rtlCol="0" anchor="ctr"/>
          <a:lstStyle/>
          <a:p>
            <a:pPr indent="0" marL="0">
              <a:buNone/>
            </a:pPr>
            <a:r>
              <a:rPr lang="en-US" sz="1200" dirty="0">
                <a:solidFill>
                  <a:srgbClr val="8FA0B3"/>
                </a:solidFill>
                <a:latin typeface="Calibri" pitchFamily="34" charset="0"/>
                <a:ea typeface="Calibri" pitchFamily="34" charset="-122"/>
                <a:cs typeface="Calibri" pitchFamily="34" charset="-120"/>
              </a:rPr>
              <a:t>Juan Diego Hernández Velasco  ·  Aprendiz ADSO – SENA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5"/>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400" b="1" spc="200" kern="0" dirty="0">
                <a:solidFill>
                  <a:srgbClr val="39A900"/>
                </a:solidFill>
                <a:latin typeface="Calibri" pitchFamily="34" charset="0"/>
                <a:ea typeface="Calibri" pitchFamily="34" charset="-122"/>
                <a:cs typeface="Calibri" pitchFamily="34" charset="-120"/>
              </a:rPr>
              <a:t>CONTEXTO Y NECESIDAD</a:t>
            </a:r>
            <a:endParaRPr lang="en-US" sz="14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¿Por qué nace este proyecto?</a:t>
            </a:r>
            <a:endParaRPr lang="en-US" sz="3200" dirty="0"/>
          </a:p>
        </p:txBody>
      </p:sp>
      <p:sp>
        <p:nvSpPr>
          <p:cNvPr id="4" name="Text 2"/>
          <p:cNvSpPr/>
          <p:nvPr/>
        </p:nvSpPr>
        <p:spPr>
          <a:xfrm>
            <a:off x="548640" y="1417320"/>
            <a:ext cx="10332720" cy="457200"/>
          </a:xfrm>
          <a:prstGeom prst="rect">
            <a:avLst/>
          </a:prstGeom>
          <a:noFill/>
          <a:ln/>
        </p:spPr>
        <p:txBody>
          <a:bodyPr wrap="square" rtlCol="0" anchor="ctr"/>
          <a:lstStyle/>
          <a:p>
            <a:pPr indent="0" marL="0">
              <a:buNone/>
            </a:pPr>
            <a:r>
              <a:rPr lang="en-US" sz="1600" i="1" dirty="0">
                <a:solidFill>
                  <a:srgbClr val="5B6570"/>
                </a:solidFill>
                <a:latin typeface="Calibri" pitchFamily="34" charset="0"/>
                <a:ea typeface="Calibri" pitchFamily="34" charset="-122"/>
                <a:cs typeface="Calibri" pitchFamily="34" charset="-120"/>
              </a:rPr>
              <a:t>El reto de organizar a miles de aprendices, cientos de instructores y salones limitados.</a:t>
            </a:r>
            <a:endParaRPr lang="en-US" sz="1600" dirty="0"/>
          </a:p>
        </p:txBody>
      </p:sp>
      <p:sp>
        <p:nvSpPr>
          <p:cNvPr id="5" name="Shape 3"/>
          <p:cNvSpPr/>
          <p:nvPr/>
        </p:nvSpPr>
        <p:spPr>
          <a:xfrm>
            <a:off x="548640" y="2331720"/>
            <a:ext cx="3337560" cy="3291840"/>
          </a:xfrm>
          <a:prstGeom prst="roundRect">
            <a:avLst>
              <a:gd name="adj" fmla="val 3333"/>
            </a:avLst>
          </a:prstGeom>
          <a:solidFill>
            <a:srgbClr val="FFFFFF"/>
          </a:solidFill>
          <a:ln/>
          <a:effectLst>
            <a:outerShdw sx="100000" sy="100000" kx="0" ky="0" algn="bl" rotWithShape="0" blurRad="101600" dist="38100" dir="5400000">
              <a:srgbClr val="000000">
                <a:alpha val="15000"/>
              </a:srgbClr>
            </a:outerShdw>
          </a:effectLst>
        </p:spPr>
      </p:sp>
      <p:sp>
        <p:nvSpPr>
          <p:cNvPr id="6" name="Shape 4"/>
          <p:cNvSpPr/>
          <p:nvPr/>
        </p:nvSpPr>
        <p:spPr>
          <a:xfrm>
            <a:off x="1805940" y="2697480"/>
            <a:ext cx="822960" cy="822960"/>
          </a:xfrm>
          <a:prstGeom prst="ellipse">
            <a:avLst/>
          </a:prstGeom>
          <a:solidFill>
            <a:srgbClr val="1B2A4A"/>
          </a:solidFill>
          <a:ln/>
        </p:spPr>
      </p:sp>
      <p:pic>
        <p:nvPicPr>
          <p:cNvPr id="7" name="Image 0" descr="icons/warning.png">    </p:cNvPr>
          <p:cNvPicPr>
            <a:picLocks noChangeAspect="1"/>
          </p:cNvPicPr>
          <p:nvPr/>
        </p:nvPicPr>
        <p:blipFill>
          <a:blip r:embed="rId1"/>
          <a:stretch>
            <a:fillRect/>
          </a:stretch>
        </p:blipFill>
        <p:spPr>
          <a:xfrm>
            <a:off x="2003450" y="2894990"/>
            <a:ext cx="427939" cy="427939"/>
          </a:xfrm>
          <a:prstGeom prst="rect">
            <a:avLst/>
          </a:prstGeom>
        </p:spPr>
      </p:pic>
      <p:sp>
        <p:nvSpPr>
          <p:cNvPr id="8" name="Text 5"/>
          <p:cNvSpPr/>
          <p:nvPr/>
        </p:nvSpPr>
        <p:spPr>
          <a:xfrm>
            <a:off x="777240" y="3749040"/>
            <a:ext cx="2880360" cy="502920"/>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Choques de horarios</a:t>
            </a:r>
            <a:endParaRPr lang="en-US" sz="1700" dirty="0"/>
          </a:p>
        </p:txBody>
      </p:sp>
      <p:sp>
        <p:nvSpPr>
          <p:cNvPr id="9" name="Text 6"/>
          <p:cNvSpPr/>
          <p:nvPr/>
        </p:nvSpPr>
        <p:spPr>
          <a:xfrm>
            <a:off x="822960" y="4297680"/>
            <a:ext cx="2788920" cy="1188720"/>
          </a:xfrm>
          <a:prstGeom prst="rect">
            <a:avLst/>
          </a:prstGeom>
          <a:noFill/>
          <a:ln/>
        </p:spPr>
        <p:txBody>
          <a:bodyPr wrap="square" lIns="0" tIns="0" rIns="0" bIns="0" rtlCol="0" anchor="ctr"/>
          <a:lstStyle/>
          <a:p>
            <a:pPr algn="ctr" indent="0" marL="0">
              <a:buNone/>
            </a:pPr>
            <a:r>
              <a:rPr lang="en-US" sz="1300" dirty="0">
                <a:solidFill>
                  <a:srgbClr val="1E1E1E"/>
                </a:solidFill>
                <a:latin typeface="Calibri" pitchFamily="34" charset="0"/>
                <a:ea typeface="Calibri" pitchFamily="34" charset="-122"/>
                <a:cs typeface="Calibri" pitchFamily="34" charset="-120"/>
              </a:rPr>
              <a:t>Profesores con dos clases a la vez y dos grupos peleando por el mismo salón.</a:t>
            </a:r>
            <a:endParaRPr lang="en-US" sz="1300" dirty="0"/>
          </a:p>
        </p:txBody>
      </p:sp>
      <p:sp>
        <p:nvSpPr>
          <p:cNvPr id="10" name="Shape 7"/>
          <p:cNvSpPr/>
          <p:nvPr/>
        </p:nvSpPr>
        <p:spPr>
          <a:xfrm>
            <a:off x="4206240" y="2331720"/>
            <a:ext cx="3337560" cy="3291840"/>
          </a:xfrm>
          <a:prstGeom prst="roundRect">
            <a:avLst>
              <a:gd name="adj" fmla="val 3333"/>
            </a:avLst>
          </a:prstGeom>
          <a:solidFill>
            <a:srgbClr val="FFFFFF"/>
          </a:solidFill>
          <a:ln/>
          <a:effectLst>
            <a:outerShdw sx="100000" sy="100000" kx="0" ky="0" algn="bl" rotWithShape="0" blurRad="101600" dist="38100" dir="5400000">
              <a:srgbClr val="000000">
                <a:alpha val="15000"/>
              </a:srgbClr>
            </a:outerShdw>
          </a:effectLst>
        </p:spPr>
      </p:sp>
      <p:sp>
        <p:nvSpPr>
          <p:cNvPr id="11" name="Shape 8"/>
          <p:cNvSpPr/>
          <p:nvPr/>
        </p:nvSpPr>
        <p:spPr>
          <a:xfrm>
            <a:off x="5463540" y="2697480"/>
            <a:ext cx="822960" cy="822960"/>
          </a:xfrm>
          <a:prstGeom prst="ellipse">
            <a:avLst/>
          </a:prstGeom>
          <a:solidFill>
            <a:srgbClr val="1B2A4A"/>
          </a:solidFill>
          <a:ln/>
        </p:spPr>
      </p:sp>
      <p:pic>
        <p:nvPicPr>
          <p:cNvPr id="12" name="Image 1" descr="icons/building.png">    </p:cNvPr>
          <p:cNvPicPr>
            <a:picLocks noChangeAspect="1"/>
          </p:cNvPicPr>
          <p:nvPr/>
        </p:nvPicPr>
        <p:blipFill>
          <a:blip r:embed="rId2"/>
          <a:stretch>
            <a:fillRect/>
          </a:stretch>
        </p:blipFill>
        <p:spPr>
          <a:xfrm>
            <a:off x="5661050" y="2894990"/>
            <a:ext cx="427939" cy="427939"/>
          </a:xfrm>
          <a:prstGeom prst="rect">
            <a:avLst/>
          </a:prstGeom>
        </p:spPr>
      </p:pic>
      <p:sp>
        <p:nvSpPr>
          <p:cNvPr id="13" name="Text 9"/>
          <p:cNvSpPr/>
          <p:nvPr/>
        </p:nvSpPr>
        <p:spPr>
          <a:xfrm>
            <a:off x="4434840" y="3749040"/>
            <a:ext cx="2880360" cy="502920"/>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Desorden en ambientes</a:t>
            </a:r>
            <a:endParaRPr lang="en-US" sz="1700" dirty="0"/>
          </a:p>
        </p:txBody>
      </p:sp>
      <p:sp>
        <p:nvSpPr>
          <p:cNvPr id="14" name="Text 10"/>
          <p:cNvSpPr/>
          <p:nvPr/>
        </p:nvSpPr>
        <p:spPr>
          <a:xfrm>
            <a:off x="4480560" y="4297680"/>
            <a:ext cx="2788920" cy="1188720"/>
          </a:xfrm>
          <a:prstGeom prst="rect">
            <a:avLst/>
          </a:prstGeom>
          <a:noFill/>
          <a:ln/>
        </p:spPr>
        <p:txBody>
          <a:bodyPr wrap="square" lIns="0" tIns="0" rIns="0" bIns="0" rtlCol="0" anchor="ctr"/>
          <a:lstStyle/>
          <a:p>
            <a:pPr algn="ctr" indent="0" marL="0">
              <a:buNone/>
            </a:pPr>
            <a:r>
              <a:rPr lang="en-US" sz="1300" dirty="0">
                <a:solidFill>
                  <a:srgbClr val="1E1E1E"/>
                </a:solidFill>
                <a:latin typeface="Calibri" pitchFamily="34" charset="0"/>
                <a:ea typeface="Calibri" pitchFamily="34" charset="-122"/>
                <a:cs typeface="Calibri" pitchFamily="34" charset="-120"/>
              </a:rPr>
              <a:t>Talleres usados sin saber su aforo real o programados durante mantenimientos.</a:t>
            </a:r>
            <a:endParaRPr lang="en-US" sz="1300" dirty="0"/>
          </a:p>
        </p:txBody>
      </p:sp>
      <p:sp>
        <p:nvSpPr>
          <p:cNvPr id="15" name="Shape 11"/>
          <p:cNvSpPr/>
          <p:nvPr/>
        </p:nvSpPr>
        <p:spPr>
          <a:xfrm>
            <a:off x="7863840" y="2331720"/>
            <a:ext cx="3337560" cy="3291840"/>
          </a:xfrm>
          <a:prstGeom prst="roundRect">
            <a:avLst>
              <a:gd name="adj" fmla="val 3333"/>
            </a:avLst>
          </a:prstGeom>
          <a:solidFill>
            <a:srgbClr val="FFFFFF"/>
          </a:solidFill>
          <a:ln/>
          <a:effectLst>
            <a:outerShdw sx="100000" sy="100000" kx="0" ky="0" algn="bl" rotWithShape="0" blurRad="101600" dist="38100" dir="5400000">
              <a:srgbClr val="000000">
                <a:alpha val="15000"/>
              </a:srgbClr>
            </a:outerShdw>
          </a:effectLst>
        </p:spPr>
      </p:sp>
      <p:sp>
        <p:nvSpPr>
          <p:cNvPr id="16" name="Shape 12"/>
          <p:cNvSpPr/>
          <p:nvPr/>
        </p:nvSpPr>
        <p:spPr>
          <a:xfrm>
            <a:off x="9121140" y="2697480"/>
            <a:ext cx="822960" cy="822960"/>
          </a:xfrm>
          <a:prstGeom prst="ellipse">
            <a:avLst/>
          </a:prstGeom>
          <a:solidFill>
            <a:srgbClr val="1B2A4A"/>
          </a:solidFill>
          <a:ln/>
        </p:spPr>
      </p:sp>
      <p:pic>
        <p:nvPicPr>
          <p:cNvPr id="17" name="Image 2" descr="icons/megaphone.png">    </p:cNvPr>
          <p:cNvPicPr>
            <a:picLocks noChangeAspect="1"/>
          </p:cNvPicPr>
          <p:nvPr/>
        </p:nvPicPr>
        <p:blipFill>
          <a:blip r:embed="rId3"/>
          <a:stretch>
            <a:fillRect/>
          </a:stretch>
        </p:blipFill>
        <p:spPr>
          <a:xfrm>
            <a:off x="9318650" y="2894990"/>
            <a:ext cx="427939" cy="427939"/>
          </a:xfrm>
          <a:prstGeom prst="rect">
            <a:avLst/>
          </a:prstGeom>
        </p:spPr>
      </p:pic>
      <p:sp>
        <p:nvSpPr>
          <p:cNvPr id="18" name="Text 13"/>
          <p:cNvSpPr/>
          <p:nvPr/>
        </p:nvSpPr>
        <p:spPr>
          <a:xfrm>
            <a:off x="8092440" y="3749040"/>
            <a:ext cx="2880360" cy="502920"/>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Mala comunicación</a:t>
            </a:r>
            <a:endParaRPr lang="en-US" sz="1700" dirty="0"/>
          </a:p>
        </p:txBody>
      </p:sp>
      <p:sp>
        <p:nvSpPr>
          <p:cNvPr id="19" name="Text 14"/>
          <p:cNvSpPr/>
          <p:nvPr/>
        </p:nvSpPr>
        <p:spPr>
          <a:xfrm>
            <a:off x="8138160" y="4297680"/>
            <a:ext cx="2788920" cy="1188720"/>
          </a:xfrm>
          <a:prstGeom prst="rect">
            <a:avLst/>
          </a:prstGeom>
          <a:noFill/>
          <a:ln/>
        </p:spPr>
        <p:txBody>
          <a:bodyPr wrap="square" lIns="0" tIns="0" rIns="0" bIns="0" rtlCol="0" anchor="ctr"/>
          <a:lstStyle/>
          <a:p>
            <a:pPr algn="ctr" indent="0" marL="0">
              <a:buNone/>
            </a:pPr>
            <a:r>
              <a:rPr lang="en-US" sz="1300" dirty="0">
                <a:solidFill>
                  <a:srgbClr val="1E1E1E"/>
                </a:solidFill>
                <a:latin typeface="Calibri" pitchFamily="34" charset="0"/>
                <a:ea typeface="Calibri" pitchFamily="34" charset="-122"/>
                <a:cs typeface="Calibri" pitchFamily="34" charset="-120"/>
              </a:rPr>
              <a:t>Aprendices que llegan al centro y no saben en qué salón les toca porque el aviso llegó tarde.</a:t>
            </a:r>
            <a:endParaRPr lang="en-US" sz="1300" dirty="0"/>
          </a:p>
        </p:txBody>
      </p:sp>
      <p:sp>
        <p:nvSpPr>
          <p:cNvPr id="20" name="Text 15"/>
          <p:cNvSpPr/>
          <p:nvPr/>
        </p:nvSpPr>
        <p:spPr>
          <a:xfrm>
            <a:off x="457200" y="6492240"/>
            <a:ext cx="5486400" cy="274320"/>
          </a:xfrm>
          <a:prstGeom prst="rect">
            <a:avLst/>
          </a:prstGeom>
          <a:noFill/>
          <a:ln/>
        </p:spPr>
        <p:txBody>
          <a:bodyPr wrap="square" rtlCol="0" anchor="ctr"/>
          <a:lstStyle/>
          <a:p>
            <a:pPr algn="l" indent="0" marL="0">
              <a:buNone/>
            </a:pPr>
            <a:r>
              <a:rPr lang="en-US" sz="1000" dirty="0">
                <a:solidFill>
                  <a:srgbClr val="5B6570"/>
                </a:solidFill>
                <a:latin typeface="Calibri" pitchFamily="34" charset="0"/>
                <a:ea typeface="Calibri" pitchFamily="34" charset="-122"/>
                <a:cs typeface="Calibri" pitchFamily="34" charset="-120"/>
              </a:rPr>
              <a:t>SENA — Gestión de Horarios</a:t>
            </a:r>
            <a:endParaRPr lang="en-US" sz="1000" dirty="0"/>
          </a:p>
        </p:txBody>
      </p:sp>
      <p:sp>
        <p:nvSpPr>
          <p:cNvPr id="21" name="Text 16"/>
          <p:cNvSpPr/>
          <p:nvPr/>
        </p:nvSpPr>
        <p:spPr>
          <a:xfrm>
            <a:off x="11274552" y="6492240"/>
            <a:ext cx="457200" cy="274320"/>
          </a:xfrm>
          <a:prstGeom prst="rect">
            <a:avLst/>
          </a:prstGeom>
          <a:noFill/>
          <a:ln/>
        </p:spPr>
        <p:txBody>
          <a:bodyPr wrap="square"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400" b="1" spc="200" kern="0" dirty="0">
                <a:solidFill>
                  <a:srgbClr val="39A900"/>
                </a:solidFill>
                <a:latin typeface="Calibri" pitchFamily="34" charset="0"/>
                <a:ea typeface="Calibri" pitchFamily="34" charset="-122"/>
                <a:cs typeface="Calibri" pitchFamily="34" charset="-120"/>
              </a:rPr>
              <a:t>PROPUESTA DE VALOR</a:t>
            </a:r>
            <a:endParaRPr lang="en-US" sz="14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Un motor inteligente y transparente</a:t>
            </a:r>
            <a:endParaRPr lang="en-US" sz="3200" dirty="0"/>
          </a:p>
        </p:txBody>
      </p:sp>
      <p:sp>
        <p:nvSpPr>
          <p:cNvPr id="4" name="Shape 2"/>
          <p:cNvSpPr/>
          <p:nvPr/>
        </p:nvSpPr>
        <p:spPr>
          <a:xfrm>
            <a:off x="548640" y="1965960"/>
            <a:ext cx="3337560" cy="3657600"/>
          </a:xfrm>
          <a:prstGeom prst="roundRect">
            <a:avLst>
              <a:gd name="adj" fmla="val 3288"/>
            </a:avLst>
          </a:prstGeom>
          <a:solidFill>
            <a:srgbClr val="13203A"/>
          </a:solidFill>
          <a:ln/>
        </p:spPr>
      </p:sp>
      <p:sp>
        <p:nvSpPr>
          <p:cNvPr id="5" name="Shape 3"/>
          <p:cNvSpPr/>
          <p:nvPr/>
        </p:nvSpPr>
        <p:spPr>
          <a:xfrm>
            <a:off x="1805940" y="2377440"/>
            <a:ext cx="822960" cy="822960"/>
          </a:xfrm>
          <a:prstGeom prst="ellipse">
            <a:avLst/>
          </a:prstGeom>
          <a:solidFill>
            <a:srgbClr val="39A900"/>
          </a:solidFill>
          <a:ln/>
        </p:spPr>
      </p:sp>
      <p:pic>
        <p:nvPicPr>
          <p:cNvPr id="6" name="Image 0" descr="icons/shield.png">    </p:cNvPr>
          <p:cNvPicPr>
            <a:picLocks noChangeAspect="1"/>
          </p:cNvPicPr>
          <p:nvPr/>
        </p:nvPicPr>
        <p:blipFill>
          <a:blip r:embed="rId1"/>
          <a:stretch>
            <a:fillRect/>
          </a:stretch>
        </p:blipFill>
        <p:spPr>
          <a:xfrm>
            <a:off x="2003450" y="2574950"/>
            <a:ext cx="427939" cy="427939"/>
          </a:xfrm>
          <a:prstGeom prst="rect">
            <a:avLst/>
          </a:prstGeom>
        </p:spPr>
      </p:pic>
      <p:sp>
        <p:nvSpPr>
          <p:cNvPr id="7" name="Text 4"/>
          <p:cNvSpPr/>
          <p:nvPr/>
        </p:nvSpPr>
        <p:spPr>
          <a:xfrm>
            <a:off x="777240" y="3429000"/>
            <a:ext cx="28803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Validación en tiempo real</a:t>
            </a:r>
            <a:endParaRPr lang="en-US" sz="1700" dirty="0"/>
          </a:p>
        </p:txBody>
      </p:sp>
      <p:sp>
        <p:nvSpPr>
          <p:cNvPr id="8" name="Text 5"/>
          <p:cNvSpPr/>
          <p:nvPr/>
        </p:nvSpPr>
        <p:spPr>
          <a:xfrm>
            <a:off x="822960" y="4023360"/>
            <a:ext cx="2788920" cy="1280160"/>
          </a:xfrm>
          <a:prstGeom prst="rect">
            <a:avLst/>
          </a:prstGeom>
          <a:noFill/>
          <a:ln/>
        </p:spPr>
        <p:txBody>
          <a:bodyPr wrap="square" lIns="0" tIns="0" rIns="0" bIns="0" rtlCol="0" anchor="ctr"/>
          <a:lstStyle/>
          <a:p>
            <a:pPr algn="ctr" indent="0" marL="0">
              <a:buNone/>
            </a:pPr>
            <a:r>
              <a:rPr lang="en-US" sz="1300" dirty="0">
                <a:solidFill>
                  <a:srgbClr val="CBD5DE"/>
                </a:solidFill>
                <a:latin typeface="Calibri" pitchFamily="34" charset="0"/>
                <a:ea typeface="Calibri" pitchFamily="34" charset="-122"/>
                <a:cs typeface="Calibri" pitchFamily="34" charset="-120"/>
              </a:rPr>
              <a:t>El sistema actúa como un árbitro que detecta cruces antes de publicar.</a:t>
            </a:r>
            <a:endParaRPr lang="en-US" sz="1300" dirty="0"/>
          </a:p>
        </p:txBody>
      </p:sp>
      <p:sp>
        <p:nvSpPr>
          <p:cNvPr id="9" name="Shape 6"/>
          <p:cNvSpPr/>
          <p:nvPr/>
        </p:nvSpPr>
        <p:spPr>
          <a:xfrm>
            <a:off x="4206240" y="1965960"/>
            <a:ext cx="3337560" cy="3657600"/>
          </a:xfrm>
          <a:prstGeom prst="roundRect">
            <a:avLst>
              <a:gd name="adj" fmla="val 3288"/>
            </a:avLst>
          </a:prstGeom>
          <a:solidFill>
            <a:srgbClr val="13203A"/>
          </a:solidFill>
          <a:ln/>
        </p:spPr>
      </p:sp>
      <p:sp>
        <p:nvSpPr>
          <p:cNvPr id="10" name="Shape 7"/>
          <p:cNvSpPr/>
          <p:nvPr/>
        </p:nvSpPr>
        <p:spPr>
          <a:xfrm>
            <a:off x="5463540" y="2377440"/>
            <a:ext cx="822960" cy="822960"/>
          </a:xfrm>
          <a:prstGeom prst="ellipse">
            <a:avLst/>
          </a:prstGeom>
          <a:solidFill>
            <a:srgbClr val="39A900"/>
          </a:solidFill>
          <a:ln/>
        </p:spPr>
      </p:sp>
      <p:pic>
        <p:nvPicPr>
          <p:cNvPr id="11" name="Image 1" descr="icons/mobile.png">    </p:cNvPr>
          <p:cNvPicPr>
            <a:picLocks noChangeAspect="1"/>
          </p:cNvPicPr>
          <p:nvPr/>
        </p:nvPicPr>
        <p:blipFill>
          <a:blip r:embed="rId2"/>
          <a:stretch>
            <a:fillRect/>
          </a:stretch>
        </p:blipFill>
        <p:spPr>
          <a:xfrm>
            <a:off x="5661050" y="2574950"/>
            <a:ext cx="427939" cy="427939"/>
          </a:xfrm>
          <a:prstGeom prst="rect">
            <a:avLst/>
          </a:prstGeom>
        </p:spPr>
      </p:pic>
      <p:sp>
        <p:nvSpPr>
          <p:cNvPr id="12" name="Text 8"/>
          <p:cNvSpPr/>
          <p:nvPr/>
        </p:nvSpPr>
        <p:spPr>
          <a:xfrm>
            <a:off x="4434840" y="3429000"/>
            <a:ext cx="28803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Avisos al celular</a:t>
            </a:r>
            <a:endParaRPr lang="en-US" sz="1700" dirty="0"/>
          </a:p>
        </p:txBody>
      </p:sp>
      <p:sp>
        <p:nvSpPr>
          <p:cNvPr id="13" name="Text 9"/>
          <p:cNvSpPr/>
          <p:nvPr/>
        </p:nvSpPr>
        <p:spPr>
          <a:xfrm>
            <a:off x="4480560" y="4023360"/>
            <a:ext cx="2788920" cy="1280160"/>
          </a:xfrm>
          <a:prstGeom prst="rect">
            <a:avLst/>
          </a:prstGeom>
          <a:noFill/>
          <a:ln/>
        </p:spPr>
        <p:txBody>
          <a:bodyPr wrap="square" lIns="0" tIns="0" rIns="0" bIns="0" rtlCol="0" anchor="ctr"/>
          <a:lstStyle/>
          <a:p>
            <a:pPr algn="ctr" indent="0" marL="0">
              <a:buNone/>
            </a:pPr>
            <a:r>
              <a:rPr lang="en-US" sz="1300" dirty="0">
                <a:solidFill>
                  <a:srgbClr val="CBD5DE"/>
                </a:solidFill>
                <a:latin typeface="Calibri" pitchFamily="34" charset="0"/>
                <a:ea typeface="Calibri" pitchFamily="34" charset="-122"/>
                <a:cs typeface="Calibri" pitchFamily="34" charset="-120"/>
              </a:rPr>
              <a:t>El aprendiz solo ve su horario propio y recibe alertas si hay cambios.</a:t>
            </a:r>
            <a:endParaRPr lang="en-US" sz="1300" dirty="0"/>
          </a:p>
        </p:txBody>
      </p:sp>
      <p:sp>
        <p:nvSpPr>
          <p:cNvPr id="14" name="Shape 10"/>
          <p:cNvSpPr/>
          <p:nvPr/>
        </p:nvSpPr>
        <p:spPr>
          <a:xfrm>
            <a:off x="7863840" y="1965960"/>
            <a:ext cx="3337560" cy="3657600"/>
          </a:xfrm>
          <a:prstGeom prst="roundRect">
            <a:avLst>
              <a:gd name="adj" fmla="val 3288"/>
            </a:avLst>
          </a:prstGeom>
          <a:solidFill>
            <a:srgbClr val="13203A"/>
          </a:solidFill>
          <a:ln/>
        </p:spPr>
      </p:sp>
      <p:sp>
        <p:nvSpPr>
          <p:cNvPr id="15" name="Shape 11"/>
          <p:cNvSpPr/>
          <p:nvPr/>
        </p:nvSpPr>
        <p:spPr>
          <a:xfrm>
            <a:off x="9121140" y="2377440"/>
            <a:ext cx="822960" cy="822960"/>
          </a:xfrm>
          <a:prstGeom prst="ellipse">
            <a:avLst/>
          </a:prstGeom>
          <a:solidFill>
            <a:srgbClr val="39A900"/>
          </a:solidFill>
          <a:ln/>
        </p:spPr>
      </p:sp>
      <p:pic>
        <p:nvPicPr>
          <p:cNvPr id="16" name="Image 2" descr="icons/chartbar.png">    </p:cNvPr>
          <p:cNvPicPr>
            <a:picLocks noChangeAspect="1"/>
          </p:cNvPicPr>
          <p:nvPr/>
        </p:nvPicPr>
        <p:blipFill>
          <a:blip r:embed="rId3"/>
          <a:stretch>
            <a:fillRect/>
          </a:stretch>
        </p:blipFill>
        <p:spPr>
          <a:xfrm>
            <a:off x="9318650" y="2574950"/>
            <a:ext cx="427939" cy="427939"/>
          </a:xfrm>
          <a:prstGeom prst="rect">
            <a:avLst/>
          </a:prstGeom>
        </p:spPr>
      </p:pic>
      <p:sp>
        <p:nvSpPr>
          <p:cNvPr id="17" name="Text 12"/>
          <p:cNvSpPr/>
          <p:nvPr/>
        </p:nvSpPr>
        <p:spPr>
          <a:xfrm>
            <a:off x="8092440" y="3429000"/>
            <a:ext cx="28803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Control directivo</a:t>
            </a:r>
            <a:endParaRPr lang="en-US" sz="1700" dirty="0"/>
          </a:p>
        </p:txBody>
      </p:sp>
      <p:sp>
        <p:nvSpPr>
          <p:cNvPr id="18" name="Text 13"/>
          <p:cNvSpPr/>
          <p:nvPr/>
        </p:nvSpPr>
        <p:spPr>
          <a:xfrm>
            <a:off x="8138160" y="4023360"/>
            <a:ext cx="2788920" cy="1280160"/>
          </a:xfrm>
          <a:prstGeom prst="rect">
            <a:avLst/>
          </a:prstGeom>
          <a:noFill/>
          <a:ln/>
        </p:spPr>
        <p:txBody>
          <a:bodyPr wrap="square" lIns="0" tIns="0" rIns="0" bIns="0" rtlCol="0" anchor="ctr"/>
          <a:lstStyle/>
          <a:p>
            <a:pPr algn="ctr" indent="0" marL="0">
              <a:buNone/>
            </a:pPr>
            <a:r>
              <a:rPr lang="en-US" sz="1300" dirty="0">
                <a:solidFill>
                  <a:srgbClr val="CBD5DE"/>
                </a:solidFill>
                <a:latin typeface="Calibri" pitchFamily="34" charset="0"/>
                <a:ea typeface="Calibri" pitchFamily="34" charset="-122"/>
                <a:cs typeface="Calibri" pitchFamily="34" charset="-120"/>
              </a:rPr>
              <a:t>Semáforos de asistencia para saber qué grupos están en riesgo de deserción.</a:t>
            </a:r>
            <a:endParaRPr lang="en-US" sz="1300" dirty="0"/>
          </a:p>
        </p:txBody>
      </p:sp>
      <p:sp>
        <p:nvSpPr>
          <p:cNvPr id="19" name="Text 14"/>
          <p:cNvSpPr/>
          <p:nvPr/>
        </p:nvSpPr>
        <p:spPr>
          <a:xfrm>
            <a:off x="457200" y="6492240"/>
            <a:ext cx="5486400" cy="274320"/>
          </a:xfrm>
          <a:prstGeom prst="rect">
            <a:avLst/>
          </a:prstGeom>
          <a:noFill/>
          <a:ln/>
        </p:spPr>
        <p:txBody>
          <a:bodyPr wrap="square" rtlCol="0" anchor="ctr"/>
          <a:lstStyle/>
          <a:p>
            <a:pPr algn="l" indent="0" marL="0">
              <a:buNone/>
            </a:pPr>
            <a:r>
              <a:rPr lang="en-US" sz="1000" dirty="0">
                <a:solidFill>
                  <a:srgbClr val="AEB8C4"/>
                </a:solidFill>
                <a:latin typeface="Calibri" pitchFamily="34" charset="0"/>
                <a:ea typeface="Calibri" pitchFamily="34" charset="-122"/>
                <a:cs typeface="Calibri" pitchFamily="34" charset="-120"/>
              </a:rPr>
              <a:t>SENA — Gestión de Horarios</a:t>
            </a:r>
            <a:endParaRPr lang="en-US" sz="1000" dirty="0"/>
          </a:p>
        </p:txBody>
      </p:sp>
      <p:sp>
        <p:nvSpPr>
          <p:cNvPr id="20" name="Text 15"/>
          <p:cNvSpPr/>
          <p:nvPr/>
        </p:nvSpPr>
        <p:spPr>
          <a:xfrm>
            <a:off x="11274552" y="6492240"/>
            <a:ext cx="457200" cy="274320"/>
          </a:xfrm>
          <a:prstGeom prst="rect">
            <a:avLst/>
          </a:prstGeom>
          <a:noFill/>
          <a:ln/>
        </p:spPr>
        <p:txBody>
          <a:bodyPr wrap="square" rtlCol="0" anchor="ctr"/>
          <a:lstStyle/>
          <a:p>
            <a:pPr algn="r" indent="0" marL="0">
              <a:buNone/>
            </a:pPr>
            <a:r>
              <a:rPr lang="en-US" sz="1000" dirty="0">
                <a:solidFill>
                  <a:srgbClr val="AEB8C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5"/>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400" b="1" spc="200" kern="0" dirty="0">
                <a:solidFill>
                  <a:srgbClr val="39A900"/>
                </a:solidFill>
                <a:latin typeface="Calibri" pitchFamily="34" charset="0"/>
                <a:ea typeface="Calibri" pitchFamily="34" charset="-122"/>
                <a:cs typeface="Calibri" pitchFamily="34" charset="-120"/>
              </a:rPr>
              <a:t>ACTORES DEL SISTEMA</a:t>
            </a:r>
            <a:endParaRPr lang="en-US" sz="14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Una experiencia a la medida de cada rol</a:t>
            </a:r>
            <a:endParaRPr lang="en-US" sz="3200" dirty="0"/>
          </a:p>
        </p:txBody>
      </p:sp>
      <p:sp>
        <p:nvSpPr>
          <p:cNvPr id="4" name="Shape 2"/>
          <p:cNvSpPr/>
          <p:nvPr/>
        </p:nvSpPr>
        <p:spPr>
          <a:xfrm>
            <a:off x="548640" y="1600200"/>
            <a:ext cx="2084832" cy="4480560"/>
          </a:xfrm>
          <a:prstGeom prst="roundRect">
            <a:avLst>
              <a:gd name="adj" fmla="val 4386"/>
            </a:avLst>
          </a:prstGeom>
          <a:solidFill>
            <a:srgbClr val="FFFFFF"/>
          </a:solidFill>
          <a:ln/>
          <a:effectLst>
            <a:outerShdw sx="100000" sy="100000" kx="0" ky="0" algn="bl" rotWithShape="0" blurRad="88900" dist="38100" dir="5400000">
              <a:srgbClr val="000000">
                <a:alpha val="14000"/>
              </a:srgbClr>
            </a:outerShdw>
          </a:effectLst>
        </p:spPr>
      </p:sp>
      <p:sp>
        <p:nvSpPr>
          <p:cNvPr id="5" name="Shape 3"/>
          <p:cNvSpPr/>
          <p:nvPr/>
        </p:nvSpPr>
        <p:spPr>
          <a:xfrm>
            <a:off x="1248156" y="1920240"/>
            <a:ext cx="685800" cy="685800"/>
          </a:xfrm>
          <a:prstGeom prst="ellipse">
            <a:avLst/>
          </a:prstGeom>
          <a:solidFill>
            <a:srgbClr val="1B2A4A"/>
          </a:solidFill>
          <a:ln/>
        </p:spPr>
      </p:sp>
      <p:pic>
        <p:nvPicPr>
          <p:cNvPr id="6" name="Image 0" descr="icons/gradcap.png">    </p:cNvPr>
          <p:cNvPicPr>
            <a:picLocks noChangeAspect="1"/>
          </p:cNvPicPr>
          <p:nvPr/>
        </p:nvPicPr>
        <p:blipFill>
          <a:blip r:embed="rId1"/>
          <a:stretch>
            <a:fillRect/>
          </a:stretch>
        </p:blipFill>
        <p:spPr>
          <a:xfrm>
            <a:off x="1412748" y="2084832"/>
            <a:ext cx="356616" cy="356616"/>
          </a:xfrm>
          <a:prstGeom prst="rect">
            <a:avLst/>
          </a:prstGeom>
        </p:spPr>
      </p:pic>
      <p:sp>
        <p:nvSpPr>
          <p:cNvPr id="7" name="Text 4"/>
          <p:cNvSpPr/>
          <p:nvPr/>
        </p:nvSpPr>
        <p:spPr>
          <a:xfrm>
            <a:off x="658368" y="2788920"/>
            <a:ext cx="1865376" cy="411480"/>
          </a:xfrm>
          <a:prstGeom prst="rect">
            <a:avLst/>
          </a:prstGeom>
          <a:noFill/>
          <a:ln/>
        </p:spPr>
        <p:txBody>
          <a:bodyPr wrap="square" lIns="0" tIns="0" rIns="0" bIns="0" rtlCol="0" anchor="ctr"/>
          <a:lstStyle/>
          <a:p>
            <a:pPr algn="ctr" indent="0" marL="0">
              <a:buNone/>
            </a:pPr>
            <a:r>
              <a:rPr lang="en-US" sz="1450" b="1" dirty="0">
                <a:solidFill>
                  <a:srgbClr val="1B2A4A"/>
                </a:solidFill>
                <a:latin typeface="Cambria" pitchFamily="34" charset="0"/>
                <a:ea typeface="Cambria" pitchFamily="34" charset="-122"/>
                <a:cs typeface="Cambria" pitchFamily="34" charset="-120"/>
              </a:rPr>
              <a:t>Aprendiz</a:t>
            </a:r>
            <a:endParaRPr lang="en-US" sz="1450" dirty="0"/>
          </a:p>
        </p:txBody>
      </p:sp>
      <p:sp>
        <p:nvSpPr>
          <p:cNvPr id="8" name="Text 5"/>
          <p:cNvSpPr/>
          <p:nvPr/>
        </p:nvSpPr>
        <p:spPr>
          <a:xfrm>
            <a:off x="658368" y="3172968"/>
            <a:ext cx="1865376" cy="274320"/>
          </a:xfrm>
          <a:prstGeom prst="rect">
            <a:avLst/>
          </a:prstGeom>
          <a:noFill/>
          <a:ln/>
        </p:spPr>
        <p:txBody>
          <a:bodyPr wrap="square" lIns="0" tIns="0" rIns="0" bIns="0" rtlCol="0" anchor="ctr"/>
          <a:lstStyle/>
          <a:p>
            <a:pPr algn="ctr" indent="0" marL="0">
              <a:buNone/>
            </a:pPr>
            <a:r>
              <a:rPr lang="en-US" sz="1000" b="1" dirty="0">
                <a:solidFill>
                  <a:srgbClr val="2C8500"/>
                </a:solidFill>
                <a:latin typeface="Calibri" pitchFamily="34" charset="0"/>
                <a:ea typeface="Calibri" pitchFamily="34" charset="-122"/>
                <a:cs typeface="Calibri" pitchFamily="34" charset="-120"/>
              </a:rPr>
              <a:t>Pantallas 25–28</a:t>
            </a:r>
            <a:endParaRPr lang="en-US" sz="1000" dirty="0"/>
          </a:p>
        </p:txBody>
      </p:sp>
      <p:sp>
        <p:nvSpPr>
          <p:cNvPr id="9" name="Text 6"/>
          <p:cNvSpPr/>
          <p:nvPr/>
        </p:nvSpPr>
        <p:spPr>
          <a:xfrm>
            <a:off x="713232" y="3566160"/>
            <a:ext cx="1755648" cy="2286000"/>
          </a:xfrm>
          <a:prstGeom prst="rect">
            <a:avLst/>
          </a:prstGeom>
          <a:noFill/>
          <a:ln/>
        </p:spPr>
        <p:txBody>
          <a:bodyPr wrap="square" lIns="0" tIns="0" rIns="0" bIns="0" rtlCol="0" anchor="ctr"/>
          <a:lstStyle/>
          <a:p>
            <a:pPr algn="ctr" indent="0" marL="0">
              <a:buNone/>
            </a:pPr>
            <a:r>
              <a:rPr lang="en-US" sz="1150" dirty="0">
                <a:solidFill>
                  <a:srgbClr val="1E1E1E"/>
                </a:solidFill>
                <a:latin typeface="Calibri" pitchFamily="34" charset="0"/>
                <a:ea typeface="Calibri" pitchFamily="34" charset="-122"/>
                <a:cs typeface="Calibri" pitchFamily="34" charset="-120"/>
              </a:rPr>
              <a:t>Ve su horario semanal, recibe avisos y consulta su salón.</a:t>
            </a:r>
            <a:endParaRPr lang="en-US" sz="1150" dirty="0"/>
          </a:p>
        </p:txBody>
      </p:sp>
      <p:sp>
        <p:nvSpPr>
          <p:cNvPr id="10" name="Shape 7"/>
          <p:cNvSpPr/>
          <p:nvPr/>
        </p:nvSpPr>
        <p:spPr>
          <a:xfrm>
            <a:off x="2798064" y="1600200"/>
            <a:ext cx="2084832" cy="4480560"/>
          </a:xfrm>
          <a:prstGeom prst="roundRect">
            <a:avLst>
              <a:gd name="adj" fmla="val 4386"/>
            </a:avLst>
          </a:prstGeom>
          <a:solidFill>
            <a:srgbClr val="FFFFFF"/>
          </a:solidFill>
          <a:ln/>
          <a:effectLst>
            <a:outerShdw sx="100000" sy="100000" kx="0" ky="0" algn="bl" rotWithShape="0" blurRad="88900" dist="38100" dir="5400000">
              <a:srgbClr val="000000">
                <a:alpha val="14000"/>
              </a:srgbClr>
            </a:outerShdw>
          </a:effectLst>
        </p:spPr>
      </p:sp>
      <p:sp>
        <p:nvSpPr>
          <p:cNvPr id="11" name="Shape 8"/>
          <p:cNvSpPr/>
          <p:nvPr/>
        </p:nvSpPr>
        <p:spPr>
          <a:xfrm>
            <a:off x="3497580" y="1920240"/>
            <a:ext cx="685800" cy="685800"/>
          </a:xfrm>
          <a:prstGeom prst="ellipse">
            <a:avLst/>
          </a:prstGeom>
          <a:solidFill>
            <a:srgbClr val="39A900"/>
          </a:solidFill>
          <a:ln/>
        </p:spPr>
      </p:sp>
      <p:pic>
        <p:nvPicPr>
          <p:cNvPr id="12" name="Image 1" descr="icons/teacher.png">    </p:cNvPr>
          <p:cNvPicPr>
            <a:picLocks noChangeAspect="1"/>
          </p:cNvPicPr>
          <p:nvPr/>
        </p:nvPicPr>
        <p:blipFill>
          <a:blip r:embed="rId2"/>
          <a:stretch>
            <a:fillRect/>
          </a:stretch>
        </p:blipFill>
        <p:spPr>
          <a:xfrm>
            <a:off x="3662172" y="2084832"/>
            <a:ext cx="356616" cy="356616"/>
          </a:xfrm>
          <a:prstGeom prst="rect">
            <a:avLst/>
          </a:prstGeom>
        </p:spPr>
      </p:pic>
      <p:sp>
        <p:nvSpPr>
          <p:cNvPr id="13" name="Text 9"/>
          <p:cNvSpPr/>
          <p:nvPr/>
        </p:nvSpPr>
        <p:spPr>
          <a:xfrm>
            <a:off x="2907792" y="2788920"/>
            <a:ext cx="1865376" cy="411480"/>
          </a:xfrm>
          <a:prstGeom prst="rect">
            <a:avLst/>
          </a:prstGeom>
          <a:noFill/>
          <a:ln/>
        </p:spPr>
        <p:txBody>
          <a:bodyPr wrap="square" lIns="0" tIns="0" rIns="0" bIns="0" rtlCol="0" anchor="ctr"/>
          <a:lstStyle/>
          <a:p>
            <a:pPr algn="ctr" indent="0" marL="0">
              <a:buNone/>
            </a:pPr>
            <a:r>
              <a:rPr lang="en-US" sz="1450" b="1" dirty="0">
                <a:solidFill>
                  <a:srgbClr val="1B2A4A"/>
                </a:solidFill>
                <a:latin typeface="Cambria" pitchFamily="34" charset="0"/>
                <a:ea typeface="Cambria" pitchFamily="34" charset="-122"/>
                <a:cs typeface="Cambria" pitchFamily="34" charset="-120"/>
              </a:rPr>
              <a:t>Instructor</a:t>
            </a:r>
            <a:endParaRPr lang="en-US" sz="1450" dirty="0"/>
          </a:p>
        </p:txBody>
      </p:sp>
      <p:sp>
        <p:nvSpPr>
          <p:cNvPr id="14" name="Text 10"/>
          <p:cNvSpPr/>
          <p:nvPr/>
        </p:nvSpPr>
        <p:spPr>
          <a:xfrm>
            <a:off x="2907792" y="3172968"/>
            <a:ext cx="1865376" cy="274320"/>
          </a:xfrm>
          <a:prstGeom prst="rect">
            <a:avLst/>
          </a:prstGeom>
          <a:noFill/>
          <a:ln/>
        </p:spPr>
        <p:txBody>
          <a:bodyPr wrap="square" lIns="0" tIns="0" rIns="0" bIns="0" rtlCol="0" anchor="ctr"/>
          <a:lstStyle/>
          <a:p>
            <a:pPr algn="ctr" indent="0" marL="0">
              <a:buNone/>
            </a:pPr>
            <a:r>
              <a:rPr lang="en-US" sz="1000" b="1" dirty="0">
                <a:solidFill>
                  <a:srgbClr val="2C8500"/>
                </a:solidFill>
                <a:latin typeface="Calibri" pitchFamily="34" charset="0"/>
                <a:ea typeface="Calibri" pitchFamily="34" charset="-122"/>
                <a:cs typeface="Calibri" pitchFamily="34" charset="-120"/>
              </a:rPr>
              <a:t>Pantallas 19–24</a:t>
            </a:r>
            <a:endParaRPr lang="en-US" sz="1000" dirty="0"/>
          </a:p>
        </p:txBody>
      </p:sp>
      <p:sp>
        <p:nvSpPr>
          <p:cNvPr id="15" name="Text 11"/>
          <p:cNvSpPr/>
          <p:nvPr/>
        </p:nvSpPr>
        <p:spPr>
          <a:xfrm>
            <a:off x="2962656" y="3566160"/>
            <a:ext cx="1755648" cy="2286000"/>
          </a:xfrm>
          <a:prstGeom prst="rect">
            <a:avLst/>
          </a:prstGeom>
          <a:noFill/>
          <a:ln/>
        </p:spPr>
        <p:txBody>
          <a:bodyPr wrap="square" lIns="0" tIns="0" rIns="0" bIns="0" rtlCol="0" anchor="ctr"/>
          <a:lstStyle/>
          <a:p>
            <a:pPr algn="ctr" indent="0" marL="0">
              <a:buNone/>
            </a:pPr>
            <a:r>
              <a:rPr lang="en-US" sz="1150" dirty="0">
                <a:solidFill>
                  <a:srgbClr val="1E1E1E"/>
                </a:solidFill>
                <a:latin typeface="Calibri" pitchFamily="34" charset="0"/>
                <a:ea typeface="Calibri" pitchFamily="34" charset="-122"/>
                <a:cs typeface="Calibri" pitchFamily="34" charset="-120"/>
              </a:rPr>
              <a:t>Ve su calendario, pasa asistencia y sube incapacidades médicas.</a:t>
            </a:r>
            <a:endParaRPr lang="en-US" sz="1150" dirty="0"/>
          </a:p>
        </p:txBody>
      </p:sp>
      <p:sp>
        <p:nvSpPr>
          <p:cNvPr id="16" name="Shape 12"/>
          <p:cNvSpPr/>
          <p:nvPr/>
        </p:nvSpPr>
        <p:spPr>
          <a:xfrm>
            <a:off x="5047488" y="1600200"/>
            <a:ext cx="2084832" cy="4480560"/>
          </a:xfrm>
          <a:prstGeom prst="roundRect">
            <a:avLst>
              <a:gd name="adj" fmla="val 4386"/>
            </a:avLst>
          </a:prstGeom>
          <a:solidFill>
            <a:srgbClr val="FFFFFF"/>
          </a:solidFill>
          <a:ln/>
          <a:effectLst>
            <a:outerShdw sx="100000" sy="100000" kx="0" ky="0" algn="bl" rotWithShape="0" blurRad="88900" dist="38100" dir="5400000">
              <a:srgbClr val="000000">
                <a:alpha val="14000"/>
              </a:srgbClr>
            </a:outerShdw>
          </a:effectLst>
        </p:spPr>
      </p:sp>
      <p:sp>
        <p:nvSpPr>
          <p:cNvPr id="17" name="Shape 13"/>
          <p:cNvSpPr/>
          <p:nvPr/>
        </p:nvSpPr>
        <p:spPr>
          <a:xfrm>
            <a:off x="5747004" y="1920240"/>
            <a:ext cx="685800" cy="685800"/>
          </a:xfrm>
          <a:prstGeom prst="ellipse">
            <a:avLst/>
          </a:prstGeom>
          <a:solidFill>
            <a:srgbClr val="1B2A4A"/>
          </a:solidFill>
          <a:ln/>
        </p:spPr>
      </p:sp>
      <p:pic>
        <p:nvPicPr>
          <p:cNvPr id="18" name="Image 2" descr="icons/clipboard.png">    </p:cNvPr>
          <p:cNvPicPr>
            <a:picLocks noChangeAspect="1"/>
          </p:cNvPicPr>
          <p:nvPr/>
        </p:nvPicPr>
        <p:blipFill>
          <a:blip r:embed="rId3"/>
          <a:stretch>
            <a:fillRect/>
          </a:stretch>
        </p:blipFill>
        <p:spPr>
          <a:xfrm>
            <a:off x="5911596" y="2084832"/>
            <a:ext cx="356616" cy="356616"/>
          </a:xfrm>
          <a:prstGeom prst="rect">
            <a:avLst/>
          </a:prstGeom>
        </p:spPr>
      </p:pic>
      <p:sp>
        <p:nvSpPr>
          <p:cNvPr id="19" name="Text 14"/>
          <p:cNvSpPr/>
          <p:nvPr/>
        </p:nvSpPr>
        <p:spPr>
          <a:xfrm>
            <a:off x="5157216" y="2788920"/>
            <a:ext cx="1865376" cy="411480"/>
          </a:xfrm>
          <a:prstGeom prst="rect">
            <a:avLst/>
          </a:prstGeom>
          <a:noFill/>
          <a:ln/>
        </p:spPr>
        <p:txBody>
          <a:bodyPr wrap="square" lIns="0" tIns="0" rIns="0" bIns="0" rtlCol="0" anchor="ctr"/>
          <a:lstStyle/>
          <a:p>
            <a:pPr algn="ctr" indent="0" marL="0">
              <a:buNone/>
            </a:pPr>
            <a:r>
              <a:rPr lang="en-US" sz="1450" b="1" dirty="0">
                <a:solidFill>
                  <a:srgbClr val="1B2A4A"/>
                </a:solidFill>
                <a:latin typeface="Cambria" pitchFamily="34" charset="0"/>
                <a:ea typeface="Cambria" pitchFamily="34" charset="-122"/>
                <a:cs typeface="Cambria" pitchFamily="34" charset="-120"/>
              </a:rPr>
              <a:t>Coordinador</a:t>
            </a:r>
            <a:endParaRPr lang="en-US" sz="1450" dirty="0"/>
          </a:p>
        </p:txBody>
      </p:sp>
      <p:sp>
        <p:nvSpPr>
          <p:cNvPr id="20" name="Text 15"/>
          <p:cNvSpPr/>
          <p:nvPr/>
        </p:nvSpPr>
        <p:spPr>
          <a:xfrm>
            <a:off x="5157216" y="3172968"/>
            <a:ext cx="1865376" cy="274320"/>
          </a:xfrm>
          <a:prstGeom prst="rect">
            <a:avLst/>
          </a:prstGeom>
          <a:noFill/>
          <a:ln/>
        </p:spPr>
        <p:txBody>
          <a:bodyPr wrap="square" lIns="0" tIns="0" rIns="0" bIns="0" rtlCol="0" anchor="ctr"/>
          <a:lstStyle/>
          <a:p>
            <a:pPr algn="ctr" indent="0" marL="0">
              <a:buNone/>
            </a:pPr>
            <a:r>
              <a:rPr lang="en-US" sz="1000" b="1" dirty="0">
                <a:solidFill>
                  <a:srgbClr val="2C8500"/>
                </a:solidFill>
                <a:latin typeface="Calibri" pitchFamily="34" charset="0"/>
                <a:ea typeface="Calibri" pitchFamily="34" charset="-122"/>
                <a:cs typeface="Calibri" pitchFamily="34" charset="-120"/>
              </a:rPr>
              <a:t>Pantallas 7–18</a:t>
            </a:r>
            <a:endParaRPr lang="en-US" sz="1000" dirty="0"/>
          </a:p>
        </p:txBody>
      </p:sp>
      <p:sp>
        <p:nvSpPr>
          <p:cNvPr id="21" name="Text 16"/>
          <p:cNvSpPr/>
          <p:nvPr/>
        </p:nvSpPr>
        <p:spPr>
          <a:xfrm>
            <a:off x="5212080" y="3566160"/>
            <a:ext cx="1755648" cy="2286000"/>
          </a:xfrm>
          <a:prstGeom prst="rect">
            <a:avLst/>
          </a:prstGeom>
          <a:noFill/>
          <a:ln/>
        </p:spPr>
        <p:txBody>
          <a:bodyPr wrap="square" lIns="0" tIns="0" rIns="0" bIns="0" rtlCol="0" anchor="ctr"/>
          <a:lstStyle/>
          <a:p>
            <a:pPr algn="ctr" indent="0" marL="0">
              <a:buNone/>
            </a:pPr>
            <a:r>
              <a:rPr lang="en-US" sz="1150" dirty="0">
                <a:solidFill>
                  <a:srgbClr val="1E1E1E"/>
                </a:solidFill>
                <a:latin typeface="Calibri" pitchFamily="34" charset="0"/>
                <a:ea typeface="Calibri" pitchFamily="34" charset="-122"/>
                <a:cs typeface="Calibri" pitchFamily="34" charset="-120"/>
              </a:rPr>
              <a:t>Arma los horarios, aparta salones y soluciona choques.</a:t>
            </a:r>
            <a:endParaRPr lang="en-US" sz="1150" dirty="0"/>
          </a:p>
        </p:txBody>
      </p:sp>
      <p:sp>
        <p:nvSpPr>
          <p:cNvPr id="22" name="Shape 17"/>
          <p:cNvSpPr/>
          <p:nvPr/>
        </p:nvSpPr>
        <p:spPr>
          <a:xfrm>
            <a:off x="7296912" y="1600200"/>
            <a:ext cx="2084832" cy="4480560"/>
          </a:xfrm>
          <a:prstGeom prst="roundRect">
            <a:avLst>
              <a:gd name="adj" fmla="val 4386"/>
            </a:avLst>
          </a:prstGeom>
          <a:solidFill>
            <a:srgbClr val="FFFFFF"/>
          </a:solidFill>
          <a:ln/>
          <a:effectLst>
            <a:outerShdw sx="100000" sy="100000" kx="0" ky="0" algn="bl" rotWithShape="0" blurRad="88900" dist="38100" dir="5400000">
              <a:srgbClr val="000000">
                <a:alpha val="14000"/>
              </a:srgbClr>
            </a:outerShdw>
          </a:effectLst>
        </p:spPr>
      </p:sp>
      <p:sp>
        <p:nvSpPr>
          <p:cNvPr id="23" name="Shape 18"/>
          <p:cNvSpPr/>
          <p:nvPr/>
        </p:nvSpPr>
        <p:spPr>
          <a:xfrm>
            <a:off x="7996428" y="1920240"/>
            <a:ext cx="685800" cy="685800"/>
          </a:xfrm>
          <a:prstGeom prst="ellipse">
            <a:avLst/>
          </a:prstGeom>
          <a:solidFill>
            <a:srgbClr val="39A900"/>
          </a:solidFill>
          <a:ln/>
        </p:spPr>
      </p:sp>
      <p:pic>
        <p:nvPicPr>
          <p:cNvPr id="24" name="Image 3" descr="icons/usertie.png">    </p:cNvPr>
          <p:cNvPicPr>
            <a:picLocks noChangeAspect="1"/>
          </p:cNvPicPr>
          <p:nvPr/>
        </p:nvPicPr>
        <p:blipFill>
          <a:blip r:embed="rId4"/>
          <a:stretch>
            <a:fillRect/>
          </a:stretch>
        </p:blipFill>
        <p:spPr>
          <a:xfrm>
            <a:off x="8161020" y="2084832"/>
            <a:ext cx="356616" cy="356616"/>
          </a:xfrm>
          <a:prstGeom prst="rect">
            <a:avLst/>
          </a:prstGeom>
        </p:spPr>
      </p:pic>
      <p:sp>
        <p:nvSpPr>
          <p:cNvPr id="25" name="Text 19"/>
          <p:cNvSpPr/>
          <p:nvPr/>
        </p:nvSpPr>
        <p:spPr>
          <a:xfrm>
            <a:off x="7406640" y="2788920"/>
            <a:ext cx="1865376" cy="411480"/>
          </a:xfrm>
          <a:prstGeom prst="rect">
            <a:avLst/>
          </a:prstGeom>
          <a:noFill/>
          <a:ln/>
        </p:spPr>
        <p:txBody>
          <a:bodyPr wrap="square" lIns="0" tIns="0" rIns="0" bIns="0" rtlCol="0" anchor="ctr"/>
          <a:lstStyle/>
          <a:p>
            <a:pPr algn="ctr" indent="0" marL="0">
              <a:buNone/>
            </a:pPr>
            <a:r>
              <a:rPr lang="en-US" sz="1450" b="1" dirty="0">
                <a:solidFill>
                  <a:srgbClr val="1B2A4A"/>
                </a:solidFill>
                <a:latin typeface="Cambria" pitchFamily="34" charset="0"/>
                <a:ea typeface="Cambria" pitchFamily="34" charset="-122"/>
                <a:cs typeface="Cambria" pitchFamily="34" charset="-120"/>
              </a:rPr>
              <a:t>Director</a:t>
            </a:r>
            <a:endParaRPr lang="en-US" sz="1450" dirty="0"/>
          </a:p>
        </p:txBody>
      </p:sp>
      <p:sp>
        <p:nvSpPr>
          <p:cNvPr id="26" name="Text 20"/>
          <p:cNvSpPr/>
          <p:nvPr/>
        </p:nvSpPr>
        <p:spPr>
          <a:xfrm>
            <a:off x="7406640" y="3172968"/>
            <a:ext cx="1865376" cy="274320"/>
          </a:xfrm>
          <a:prstGeom prst="rect">
            <a:avLst/>
          </a:prstGeom>
          <a:noFill/>
          <a:ln/>
        </p:spPr>
        <p:txBody>
          <a:bodyPr wrap="square" lIns="0" tIns="0" rIns="0" bIns="0" rtlCol="0" anchor="ctr"/>
          <a:lstStyle/>
          <a:p>
            <a:pPr algn="ctr" indent="0" marL="0">
              <a:buNone/>
            </a:pPr>
            <a:r>
              <a:rPr lang="en-US" sz="1000" b="1" dirty="0">
                <a:solidFill>
                  <a:srgbClr val="2C8500"/>
                </a:solidFill>
                <a:latin typeface="Calibri" pitchFamily="34" charset="0"/>
                <a:ea typeface="Calibri" pitchFamily="34" charset="-122"/>
                <a:cs typeface="Calibri" pitchFamily="34" charset="-120"/>
              </a:rPr>
              <a:t>Pantallas 29–36</a:t>
            </a:r>
            <a:endParaRPr lang="en-US" sz="1000" dirty="0"/>
          </a:p>
        </p:txBody>
      </p:sp>
      <p:sp>
        <p:nvSpPr>
          <p:cNvPr id="27" name="Text 21"/>
          <p:cNvSpPr/>
          <p:nvPr/>
        </p:nvSpPr>
        <p:spPr>
          <a:xfrm>
            <a:off x="7461504" y="3566160"/>
            <a:ext cx="1755648" cy="2286000"/>
          </a:xfrm>
          <a:prstGeom prst="rect">
            <a:avLst/>
          </a:prstGeom>
          <a:noFill/>
          <a:ln/>
        </p:spPr>
        <p:txBody>
          <a:bodyPr wrap="square" lIns="0" tIns="0" rIns="0" bIns="0" rtlCol="0" anchor="ctr"/>
          <a:lstStyle/>
          <a:p>
            <a:pPr algn="ctr" indent="0" marL="0">
              <a:buNone/>
            </a:pPr>
            <a:r>
              <a:rPr lang="en-US" sz="1150" dirty="0">
                <a:solidFill>
                  <a:srgbClr val="1E1E1E"/>
                </a:solidFill>
                <a:latin typeface="Calibri" pitchFamily="34" charset="0"/>
                <a:ea typeface="Calibri" pitchFamily="34" charset="-122"/>
                <a:cs typeface="Calibri" pitchFamily="34" charset="-120"/>
              </a:rPr>
              <a:t>Monitorea semáforos de asistencia y supervisa la sede.</a:t>
            </a:r>
            <a:endParaRPr lang="en-US" sz="1150" dirty="0"/>
          </a:p>
        </p:txBody>
      </p:sp>
      <p:sp>
        <p:nvSpPr>
          <p:cNvPr id="28" name="Shape 22"/>
          <p:cNvSpPr/>
          <p:nvPr/>
        </p:nvSpPr>
        <p:spPr>
          <a:xfrm>
            <a:off x="9546336" y="1600200"/>
            <a:ext cx="2084832" cy="4480560"/>
          </a:xfrm>
          <a:prstGeom prst="roundRect">
            <a:avLst>
              <a:gd name="adj" fmla="val 4386"/>
            </a:avLst>
          </a:prstGeom>
          <a:solidFill>
            <a:srgbClr val="FFFFFF"/>
          </a:solidFill>
          <a:ln/>
          <a:effectLst>
            <a:outerShdw sx="100000" sy="100000" kx="0" ky="0" algn="bl" rotWithShape="0" blurRad="88900" dist="38100" dir="5400000">
              <a:srgbClr val="000000">
                <a:alpha val="14000"/>
              </a:srgbClr>
            </a:outerShdw>
          </a:effectLst>
        </p:spPr>
      </p:sp>
      <p:sp>
        <p:nvSpPr>
          <p:cNvPr id="29" name="Shape 23"/>
          <p:cNvSpPr/>
          <p:nvPr/>
        </p:nvSpPr>
        <p:spPr>
          <a:xfrm>
            <a:off x="10245852" y="1920240"/>
            <a:ext cx="685800" cy="685800"/>
          </a:xfrm>
          <a:prstGeom prst="ellipse">
            <a:avLst/>
          </a:prstGeom>
          <a:solidFill>
            <a:srgbClr val="1B2A4A"/>
          </a:solidFill>
          <a:ln/>
        </p:spPr>
      </p:sp>
      <p:pic>
        <p:nvPicPr>
          <p:cNvPr id="30" name="Image 4" descr="icons/tools.png">    </p:cNvPr>
          <p:cNvPicPr>
            <a:picLocks noChangeAspect="1"/>
          </p:cNvPicPr>
          <p:nvPr/>
        </p:nvPicPr>
        <p:blipFill>
          <a:blip r:embed="rId5"/>
          <a:stretch>
            <a:fillRect/>
          </a:stretch>
        </p:blipFill>
        <p:spPr>
          <a:xfrm>
            <a:off x="10410444" y="2084832"/>
            <a:ext cx="356616" cy="356616"/>
          </a:xfrm>
          <a:prstGeom prst="rect">
            <a:avLst/>
          </a:prstGeom>
        </p:spPr>
      </p:pic>
      <p:sp>
        <p:nvSpPr>
          <p:cNvPr id="31" name="Text 24"/>
          <p:cNvSpPr/>
          <p:nvPr/>
        </p:nvSpPr>
        <p:spPr>
          <a:xfrm>
            <a:off x="9656064" y="2788920"/>
            <a:ext cx="1865376" cy="411480"/>
          </a:xfrm>
          <a:prstGeom prst="rect">
            <a:avLst/>
          </a:prstGeom>
          <a:noFill/>
          <a:ln/>
        </p:spPr>
        <p:txBody>
          <a:bodyPr wrap="square" lIns="0" tIns="0" rIns="0" bIns="0" rtlCol="0" anchor="ctr"/>
          <a:lstStyle/>
          <a:p>
            <a:pPr algn="ctr" indent="0" marL="0">
              <a:buNone/>
            </a:pPr>
            <a:r>
              <a:rPr lang="en-US" sz="1450" b="1" dirty="0">
                <a:solidFill>
                  <a:srgbClr val="1B2A4A"/>
                </a:solidFill>
                <a:latin typeface="Cambria" pitchFamily="34" charset="0"/>
                <a:ea typeface="Cambria" pitchFamily="34" charset="-122"/>
                <a:cs typeface="Cambria" pitchFamily="34" charset="-120"/>
              </a:rPr>
              <a:t>Soporte / Admin</a:t>
            </a:r>
            <a:endParaRPr lang="en-US" sz="1450" dirty="0"/>
          </a:p>
        </p:txBody>
      </p:sp>
      <p:sp>
        <p:nvSpPr>
          <p:cNvPr id="32" name="Text 25"/>
          <p:cNvSpPr/>
          <p:nvPr/>
        </p:nvSpPr>
        <p:spPr>
          <a:xfrm>
            <a:off x="9656064" y="3172968"/>
            <a:ext cx="1865376" cy="274320"/>
          </a:xfrm>
          <a:prstGeom prst="rect">
            <a:avLst/>
          </a:prstGeom>
          <a:noFill/>
          <a:ln/>
        </p:spPr>
        <p:txBody>
          <a:bodyPr wrap="square" lIns="0" tIns="0" rIns="0" bIns="0" rtlCol="0" anchor="ctr"/>
          <a:lstStyle/>
          <a:p>
            <a:pPr algn="ctr" indent="0" marL="0">
              <a:buNone/>
            </a:pPr>
            <a:r>
              <a:rPr lang="en-US" sz="1000" b="1" dirty="0">
                <a:solidFill>
                  <a:srgbClr val="2C8500"/>
                </a:solidFill>
                <a:latin typeface="Calibri" pitchFamily="34" charset="0"/>
                <a:ea typeface="Calibri" pitchFamily="34" charset="-122"/>
                <a:cs typeface="Calibri" pitchFamily="34" charset="-120"/>
              </a:rPr>
              <a:t>Pantallas 37–53</a:t>
            </a:r>
            <a:endParaRPr lang="en-US" sz="1000" dirty="0"/>
          </a:p>
        </p:txBody>
      </p:sp>
      <p:sp>
        <p:nvSpPr>
          <p:cNvPr id="33" name="Text 26"/>
          <p:cNvSpPr/>
          <p:nvPr/>
        </p:nvSpPr>
        <p:spPr>
          <a:xfrm>
            <a:off x="9710928" y="3566160"/>
            <a:ext cx="1755648" cy="2286000"/>
          </a:xfrm>
          <a:prstGeom prst="rect">
            <a:avLst/>
          </a:prstGeom>
          <a:noFill/>
          <a:ln/>
        </p:spPr>
        <p:txBody>
          <a:bodyPr wrap="square" lIns="0" tIns="0" rIns="0" bIns="0" rtlCol="0" anchor="ctr"/>
          <a:lstStyle/>
          <a:p>
            <a:pPr algn="ctr" indent="0" marL="0">
              <a:buNone/>
            </a:pPr>
            <a:r>
              <a:rPr lang="en-US" sz="1150" dirty="0">
                <a:solidFill>
                  <a:srgbClr val="1E1E1E"/>
                </a:solidFill>
                <a:latin typeface="Calibri" pitchFamily="34" charset="0"/>
                <a:ea typeface="Calibri" pitchFamily="34" charset="-122"/>
                <a:cs typeface="Calibri" pitchFamily="34" charset="-120"/>
              </a:rPr>
              <a:t>Genera constancias en PDF, audita cambios y registra carreras.</a:t>
            </a:r>
            <a:endParaRPr lang="en-US" sz="1150" dirty="0"/>
          </a:p>
        </p:txBody>
      </p:sp>
      <p:sp>
        <p:nvSpPr>
          <p:cNvPr id="34" name="Text 27"/>
          <p:cNvSpPr/>
          <p:nvPr/>
        </p:nvSpPr>
        <p:spPr>
          <a:xfrm>
            <a:off x="457200" y="6492240"/>
            <a:ext cx="5486400" cy="274320"/>
          </a:xfrm>
          <a:prstGeom prst="rect">
            <a:avLst/>
          </a:prstGeom>
          <a:noFill/>
          <a:ln/>
        </p:spPr>
        <p:txBody>
          <a:bodyPr wrap="square" rtlCol="0" anchor="ctr"/>
          <a:lstStyle/>
          <a:p>
            <a:pPr algn="l" indent="0" marL="0">
              <a:buNone/>
            </a:pPr>
            <a:r>
              <a:rPr lang="en-US" sz="1000" dirty="0">
                <a:solidFill>
                  <a:srgbClr val="5B6570"/>
                </a:solidFill>
                <a:latin typeface="Calibri" pitchFamily="34" charset="0"/>
                <a:ea typeface="Calibri" pitchFamily="34" charset="-122"/>
                <a:cs typeface="Calibri" pitchFamily="34" charset="-120"/>
              </a:rPr>
              <a:t>SENA — Gestión de Horarios</a:t>
            </a:r>
            <a:endParaRPr lang="en-US" sz="1000" dirty="0"/>
          </a:p>
        </p:txBody>
      </p:sp>
      <p:sp>
        <p:nvSpPr>
          <p:cNvPr id="35" name="Text 28"/>
          <p:cNvSpPr/>
          <p:nvPr/>
        </p:nvSpPr>
        <p:spPr>
          <a:xfrm>
            <a:off x="11274552" y="6492240"/>
            <a:ext cx="457200" cy="274320"/>
          </a:xfrm>
          <a:prstGeom prst="rect">
            <a:avLst/>
          </a:prstGeom>
          <a:noFill/>
          <a:ln/>
        </p:spPr>
        <p:txBody>
          <a:bodyPr wrap="square"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5"/>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400" b="1" spc="200" kern="0" dirty="0">
                <a:solidFill>
                  <a:srgbClr val="39A900"/>
                </a:solidFill>
                <a:latin typeface="Calibri" pitchFamily="34" charset="0"/>
                <a:ea typeface="Calibri" pitchFamily="34" charset="-122"/>
                <a:cs typeface="Calibri" pitchFamily="34" charset="-120"/>
              </a:rPr>
              <a:t>PROCESO PRINCIPAL</a:t>
            </a:r>
            <a:endParaRPr lang="en-US" sz="14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De un borrador a un horario oficial</a:t>
            </a:r>
            <a:endParaRPr lang="en-US" sz="3200" dirty="0"/>
          </a:p>
        </p:txBody>
      </p:sp>
      <p:sp>
        <p:nvSpPr>
          <p:cNvPr id="4" name="Shape 2"/>
          <p:cNvSpPr/>
          <p:nvPr/>
        </p:nvSpPr>
        <p:spPr>
          <a:xfrm>
            <a:off x="548640" y="1874520"/>
            <a:ext cx="2514600" cy="3566160"/>
          </a:xfrm>
          <a:prstGeom prst="roundRect">
            <a:avLst>
              <a:gd name="adj" fmla="val 4364"/>
            </a:avLst>
          </a:prstGeom>
          <a:solidFill>
            <a:srgbClr val="FFFFFF"/>
          </a:solidFill>
          <a:ln/>
          <a:effectLst>
            <a:outerShdw sx="100000" sy="100000" kx="0" ky="0" algn="bl" rotWithShape="0" blurRad="88900" dist="38100" dir="5400000">
              <a:srgbClr val="000000">
                <a:alpha val="14000"/>
              </a:srgbClr>
            </a:outerShdw>
          </a:effectLst>
        </p:spPr>
      </p:sp>
      <p:sp>
        <p:nvSpPr>
          <p:cNvPr id="5" name="Text 3"/>
          <p:cNvSpPr/>
          <p:nvPr/>
        </p:nvSpPr>
        <p:spPr>
          <a:xfrm>
            <a:off x="713232" y="1984248"/>
            <a:ext cx="640080" cy="548640"/>
          </a:xfrm>
          <a:prstGeom prst="rect">
            <a:avLst/>
          </a:prstGeom>
          <a:noFill/>
          <a:ln/>
        </p:spPr>
        <p:txBody>
          <a:bodyPr wrap="square" lIns="0" tIns="0" rIns="0" bIns="0" rtlCol="0" anchor="ctr"/>
          <a:lstStyle/>
          <a:p>
            <a:pPr indent="0" marL="0">
              <a:buNone/>
            </a:pPr>
            <a:r>
              <a:rPr lang="en-US" sz="2600" b="1" dirty="0">
                <a:solidFill>
                  <a:srgbClr val="D8DEE4"/>
                </a:solidFill>
                <a:latin typeface="Cambria" pitchFamily="34" charset="0"/>
                <a:ea typeface="Cambria" pitchFamily="34" charset="-122"/>
                <a:cs typeface="Cambria" pitchFamily="34" charset="-120"/>
              </a:rPr>
              <a:t>1</a:t>
            </a:r>
            <a:endParaRPr lang="en-US" sz="2600" dirty="0"/>
          </a:p>
        </p:txBody>
      </p:sp>
      <p:sp>
        <p:nvSpPr>
          <p:cNvPr id="6" name="Shape 4"/>
          <p:cNvSpPr/>
          <p:nvPr/>
        </p:nvSpPr>
        <p:spPr>
          <a:xfrm>
            <a:off x="1417320" y="2560320"/>
            <a:ext cx="777240" cy="777240"/>
          </a:xfrm>
          <a:prstGeom prst="ellipse">
            <a:avLst/>
          </a:prstGeom>
          <a:solidFill>
            <a:srgbClr val="39A900"/>
          </a:solidFill>
          <a:ln/>
        </p:spPr>
      </p:sp>
      <p:pic>
        <p:nvPicPr>
          <p:cNvPr id="7" name="Image 0" descr="icons/edit.png">    </p:cNvPr>
          <p:cNvPicPr>
            <a:picLocks noChangeAspect="1"/>
          </p:cNvPicPr>
          <p:nvPr/>
        </p:nvPicPr>
        <p:blipFill>
          <a:blip r:embed="rId1"/>
          <a:stretch>
            <a:fillRect/>
          </a:stretch>
        </p:blipFill>
        <p:spPr>
          <a:xfrm>
            <a:off x="1603858" y="2746858"/>
            <a:ext cx="404165" cy="404165"/>
          </a:xfrm>
          <a:prstGeom prst="rect">
            <a:avLst/>
          </a:prstGeom>
        </p:spPr>
      </p:pic>
      <p:sp>
        <p:nvSpPr>
          <p:cNvPr id="8" name="Text 5"/>
          <p:cNvSpPr/>
          <p:nvPr/>
        </p:nvSpPr>
        <p:spPr>
          <a:xfrm>
            <a:off x="731520" y="3566160"/>
            <a:ext cx="2148840" cy="457200"/>
          </a:xfrm>
          <a:prstGeom prst="rect">
            <a:avLst/>
          </a:prstGeom>
          <a:noFill/>
          <a:ln/>
        </p:spPr>
        <p:txBody>
          <a:bodyPr wrap="square" lIns="0" tIns="0" rIns="0" bIns="0" rtlCol="0" anchor="ctr"/>
          <a:lstStyle/>
          <a:p>
            <a:pPr algn="ctr" indent="0" marL="0">
              <a:buNone/>
            </a:pPr>
            <a:r>
              <a:rPr lang="en-US" sz="1550" b="1" dirty="0">
                <a:solidFill>
                  <a:srgbClr val="1B2A4A"/>
                </a:solidFill>
                <a:latin typeface="Cambria" pitchFamily="34" charset="0"/>
                <a:ea typeface="Cambria" pitchFamily="34" charset="-122"/>
                <a:cs typeface="Cambria" pitchFamily="34" charset="-120"/>
              </a:rPr>
              <a:t>Elegir ficha</a:t>
            </a:r>
            <a:endParaRPr lang="en-US" sz="1550" dirty="0"/>
          </a:p>
        </p:txBody>
      </p:sp>
      <p:sp>
        <p:nvSpPr>
          <p:cNvPr id="9" name="Text 6"/>
          <p:cNvSpPr/>
          <p:nvPr/>
        </p:nvSpPr>
        <p:spPr>
          <a:xfrm>
            <a:off x="777240" y="4069080"/>
            <a:ext cx="2057400" cy="1234440"/>
          </a:xfrm>
          <a:prstGeom prst="rect">
            <a:avLst/>
          </a:prstGeom>
          <a:noFill/>
          <a:ln/>
        </p:spPr>
        <p:txBody>
          <a:bodyPr wrap="square" lIns="0" tIns="0" rIns="0" bIns="0" rtlCol="0" anchor="ctr"/>
          <a:lstStyle/>
          <a:p>
            <a:pPr algn="ctr" indent="0" marL="0">
              <a:buNone/>
            </a:pPr>
            <a:r>
              <a:rPr lang="en-US" sz="1200" dirty="0">
                <a:solidFill>
                  <a:srgbClr val="1E1E1E"/>
                </a:solidFill>
                <a:latin typeface="Calibri" pitchFamily="34" charset="0"/>
                <a:ea typeface="Calibri" pitchFamily="34" charset="-122"/>
                <a:cs typeface="Calibri" pitchFamily="34" charset="-120"/>
              </a:rPr>
              <a:t>Selecciona el grupo (ej. ADSO 2874412) y el trimestre.</a:t>
            </a:r>
            <a:endParaRPr lang="en-US" sz="1200" dirty="0"/>
          </a:p>
        </p:txBody>
      </p:sp>
      <p:sp>
        <p:nvSpPr>
          <p:cNvPr id="10" name="Shape 7"/>
          <p:cNvSpPr/>
          <p:nvPr/>
        </p:nvSpPr>
        <p:spPr>
          <a:xfrm>
            <a:off x="3017520" y="3483864"/>
            <a:ext cx="347472" cy="347472"/>
          </a:xfrm>
          <a:prstGeom prst="ellipse">
            <a:avLst/>
          </a:prstGeom>
          <a:solidFill>
            <a:srgbClr val="C7CDD3"/>
          </a:solidFill>
          <a:ln/>
        </p:spPr>
      </p:sp>
      <p:pic>
        <p:nvPicPr>
          <p:cNvPr id="11" name="Image 1" descr="icons/arrow.png">    </p:cNvPr>
          <p:cNvPicPr>
            <a:picLocks noChangeAspect="1"/>
          </p:cNvPicPr>
          <p:nvPr/>
        </p:nvPicPr>
        <p:blipFill>
          <a:blip r:embed="rId2"/>
          <a:stretch>
            <a:fillRect/>
          </a:stretch>
        </p:blipFill>
        <p:spPr>
          <a:xfrm>
            <a:off x="3087014" y="3553358"/>
            <a:ext cx="208483" cy="208483"/>
          </a:xfrm>
          <a:prstGeom prst="rect">
            <a:avLst/>
          </a:prstGeom>
        </p:spPr>
      </p:pic>
      <p:sp>
        <p:nvSpPr>
          <p:cNvPr id="12" name="Shape 8"/>
          <p:cNvSpPr/>
          <p:nvPr/>
        </p:nvSpPr>
        <p:spPr>
          <a:xfrm>
            <a:off x="3319272" y="1874520"/>
            <a:ext cx="2514600" cy="3566160"/>
          </a:xfrm>
          <a:prstGeom prst="roundRect">
            <a:avLst>
              <a:gd name="adj" fmla="val 4364"/>
            </a:avLst>
          </a:prstGeom>
          <a:solidFill>
            <a:srgbClr val="FFFFFF"/>
          </a:solidFill>
          <a:ln/>
          <a:effectLst>
            <a:outerShdw sx="100000" sy="100000" kx="0" ky="0" algn="bl" rotWithShape="0" blurRad="88900" dist="38100" dir="5400000">
              <a:srgbClr val="000000">
                <a:alpha val="14000"/>
              </a:srgbClr>
            </a:outerShdw>
          </a:effectLst>
        </p:spPr>
      </p:sp>
      <p:sp>
        <p:nvSpPr>
          <p:cNvPr id="13" name="Text 9"/>
          <p:cNvSpPr/>
          <p:nvPr/>
        </p:nvSpPr>
        <p:spPr>
          <a:xfrm>
            <a:off x="3483864" y="1984248"/>
            <a:ext cx="640080" cy="548640"/>
          </a:xfrm>
          <a:prstGeom prst="rect">
            <a:avLst/>
          </a:prstGeom>
          <a:noFill/>
          <a:ln/>
        </p:spPr>
        <p:txBody>
          <a:bodyPr wrap="square" lIns="0" tIns="0" rIns="0" bIns="0" rtlCol="0" anchor="ctr"/>
          <a:lstStyle/>
          <a:p>
            <a:pPr indent="0" marL="0">
              <a:buNone/>
            </a:pPr>
            <a:r>
              <a:rPr lang="en-US" sz="2600" b="1" dirty="0">
                <a:solidFill>
                  <a:srgbClr val="D8DEE4"/>
                </a:solidFill>
                <a:latin typeface="Cambria" pitchFamily="34" charset="0"/>
                <a:ea typeface="Cambria" pitchFamily="34" charset="-122"/>
                <a:cs typeface="Cambria" pitchFamily="34" charset="-120"/>
              </a:rPr>
              <a:t>2</a:t>
            </a:r>
            <a:endParaRPr lang="en-US" sz="2600" dirty="0"/>
          </a:p>
        </p:txBody>
      </p:sp>
      <p:sp>
        <p:nvSpPr>
          <p:cNvPr id="14" name="Shape 10"/>
          <p:cNvSpPr/>
          <p:nvPr/>
        </p:nvSpPr>
        <p:spPr>
          <a:xfrm>
            <a:off x="4187952" y="2560320"/>
            <a:ext cx="777240" cy="777240"/>
          </a:xfrm>
          <a:prstGeom prst="ellipse">
            <a:avLst/>
          </a:prstGeom>
          <a:solidFill>
            <a:srgbClr val="39A900"/>
          </a:solidFill>
          <a:ln/>
        </p:spPr>
      </p:sp>
      <p:pic>
        <p:nvPicPr>
          <p:cNvPr id="15" name="Image 2" descr="icons/plus.png">    </p:cNvPr>
          <p:cNvPicPr>
            <a:picLocks noChangeAspect="1"/>
          </p:cNvPicPr>
          <p:nvPr/>
        </p:nvPicPr>
        <p:blipFill>
          <a:blip r:embed="rId3"/>
          <a:stretch>
            <a:fillRect/>
          </a:stretch>
        </p:blipFill>
        <p:spPr>
          <a:xfrm>
            <a:off x="4374490" y="2746858"/>
            <a:ext cx="404165" cy="404165"/>
          </a:xfrm>
          <a:prstGeom prst="rect">
            <a:avLst/>
          </a:prstGeom>
        </p:spPr>
      </p:pic>
      <p:sp>
        <p:nvSpPr>
          <p:cNvPr id="16" name="Text 11"/>
          <p:cNvSpPr/>
          <p:nvPr/>
        </p:nvSpPr>
        <p:spPr>
          <a:xfrm>
            <a:off x="3502152" y="3566160"/>
            <a:ext cx="2148840" cy="457200"/>
          </a:xfrm>
          <a:prstGeom prst="rect">
            <a:avLst/>
          </a:prstGeom>
          <a:noFill/>
          <a:ln/>
        </p:spPr>
        <p:txBody>
          <a:bodyPr wrap="square" lIns="0" tIns="0" rIns="0" bIns="0" rtlCol="0" anchor="ctr"/>
          <a:lstStyle/>
          <a:p>
            <a:pPr algn="ctr" indent="0" marL="0">
              <a:buNone/>
            </a:pPr>
            <a:r>
              <a:rPr lang="en-US" sz="1550" b="1" dirty="0">
                <a:solidFill>
                  <a:srgbClr val="1B2A4A"/>
                </a:solidFill>
                <a:latin typeface="Cambria" pitchFamily="34" charset="0"/>
                <a:ea typeface="Cambria" pitchFamily="34" charset="-122"/>
                <a:cs typeface="Cambria" pitchFamily="34" charset="-120"/>
              </a:rPr>
              <a:t>Agregar clases</a:t>
            </a:r>
            <a:endParaRPr lang="en-US" sz="1550" dirty="0"/>
          </a:p>
        </p:txBody>
      </p:sp>
      <p:sp>
        <p:nvSpPr>
          <p:cNvPr id="17" name="Text 12"/>
          <p:cNvSpPr/>
          <p:nvPr/>
        </p:nvSpPr>
        <p:spPr>
          <a:xfrm>
            <a:off x="3547872" y="4069080"/>
            <a:ext cx="2057400" cy="1234440"/>
          </a:xfrm>
          <a:prstGeom prst="rect">
            <a:avLst/>
          </a:prstGeom>
          <a:noFill/>
          <a:ln/>
        </p:spPr>
        <p:txBody>
          <a:bodyPr wrap="square" lIns="0" tIns="0" rIns="0" bIns="0" rtlCol="0" anchor="ctr"/>
          <a:lstStyle/>
          <a:p>
            <a:pPr algn="ctr" indent="0" marL="0">
              <a:buNone/>
            </a:pPr>
            <a:r>
              <a:rPr lang="en-US" sz="1200" dirty="0">
                <a:solidFill>
                  <a:srgbClr val="1E1E1E"/>
                </a:solidFill>
                <a:latin typeface="Calibri" pitchFamily="34" charset="0"/>
                <a:ea typeface="Calibri" pitchFamily="34" charset="-122"/>
                <a:cs typeface="Calibri" pitchFamily="34" charset="-120"/>
              </a:rPr>
              <a:t>Va sumando sesión por sesión con materia, profesor y salón.</a:t>
            </a:r>
            <a:endParaRPr lang="en-US" sz="1200" dirty="0"/>
          </a:p>
        </p:txBody>
      </p:sp>
      <p:sp>
        <p:nvSpPr>
          <p:cNvPr id="18" name="Shape 13"/>
          <p:cNvSpPr/>
          <p:nvPr/>
        </p:nvSpPr>
        <p:spPr>
          <a:xfrm>
            <a:off x="5788152" y="3483864"/>
            <a:ext cx="347472" cy="347472"/>
          </a:xfrm>
          <a:prstGeom prst="ellipse">
            <a:avLst/>
          </a:prstGeom>
          <a:solidFill>
            <a:srgbClr val="C7CDD3"/>
          </a:solidFill>
          <a:ln/>
        </p:spPr>
      </p:sp>
      <p:pic>
        <p:nvPicPr>
          <p:cNvPr id="19" name="Image 3" descr="icons/arrow.png">    </p:cNvPr>
          <p:cNvPicPr>
            <a:picLocks noChangeAspect="1"/>
          </p:cNvPicPr>
          <p:nvPr/>
        </p:nvPicPr>
        <p:blipFill>
          <a:blip r:embed="rId4"/>
          <a:stretch>
            <a:fillRect/>
          </a:stretch>
        </p:blipFill>
        <p:spPr>
          <a:xfrm>
            <a:off x="5857646" y="3553358"/>
            <a:ext cx="208483" cy="208483"/>
          </a:xfrm>
          <a:prstGeom prst="rect">
            <a:avLst/>
          </a:prstGeom>
        </p:spPr>
      </p:pic>
      <p:sp>
        <p:nvSpPr>
          <p:cNvPr id="20" name="Shape 14"/>
          <p:cNvSpPr/>
          <p:nvPr/>
        </p:nvSpPr>
        <p:spPr>
          <a:xfrm>
            <a:off x="6089904" y="1874520"/>
            <a:ext cx="2514600" cy="3566160"/>
          </a:xfrm>
          <a:prstGeom prst="roundRect">
            <a:avLst>
              <a:gd name="adj" fmla="val 4364"/>
            </a:avLst>
          </a:prstGeom>
          <a:solidFill>
            <a:srgbClr val="FFFFFF"/>
          </a:solidFill>
          <a:ln/>
          <a:effectLst>
            <a:outerShdw sx="100000" sy="100000" kx="0" ky="0" algn="bl" rotWithShape="0" blurRad="88900" dist="38100" dir="5400000">
              <a:srgbClr val="000000">
                <a:alpha val="14000"/>
              </a:srgbClr>
            </a:outerShdw>
          </a:effectLst>
        </p:spPr>
      </p:sp>
      <p:sp>
        <p:nvSpPr>
          <p:cNvPr id="21" name="Text 15"/>
          <p:cNvSpPr/>
          <p:nvPr/>
        </p:nvSpPr>
        <p:spPr>
          <a:xfrm>
            <a:off x="6254496" y="1984248"/>
            <a:ext cx="640080" cy="548640"/>
          </a:xfrm>
          <a:prstGeom prst="rect">
            <a:avLst/>
          </a:prstGeom>
          <a:noFill/>
          <a:ln/>
        </p:spPr>
        <p:txBody>
          <a:bodyPr wrap="square" lIns="0" tIns="0" rIns="0" bIns="0" rtlCol="0" anchor="ctr"/>
          <a:lstStyle/>
          <a:p>
            <a:pPr indent="0" marL="0">
              <a:buNone/>
            </a:pPr>
            <a:r>
              <a:rPr lang="en-US" sz="2600" b="1" dirty="0">
                <a:solidFill>
                  <a:srgbClr val="D8DEE4"/>
                </a:solidFill>
                <a:latin typeface="Cambria" pitchFamily="34" charset="0"/>
                <a:ea typeface="Cambria" pitchFamily="34" charset="-122"/>
                <a:cs typeface="Cambria" pitchFamily="34" charset="-120"/>
              </a:rPr>
              <a:t>3</a:t>
            </a:r>
            <a:endParaRPr lang="en-US" sz="2600" dirty="0"/>
          </a:p>
        </p:txBody>
      </p:sp>
      <p:sp>
        <p:nvSpPr>
          <p:cNvPr id="22" name="Shape 16"/>
          <p:cNvSpPr/>
          <p:nvPr/>
        </p:nvSpPr>
        <p:spPr>
          <a:xfrm>
            <a:off x="6958584" y="2560320"/>
            <a:ext cx="777240" cy="777240"/>
          </a:xfrm>
          <a:prstGeom prst="ellipse">
            <a:avLst/>
          </a:prstGeom>
          <a:solidFill>
            <a:srgbClr val="39A900"/>
          </a:solidFill>
          <a:ln/>
        </p:spPr>
      </p:sp>
      <p:pic>
        <p:nvPicPr>
          <p:cNvPr id="23" name="Image 4" descr="icons/search.png">    </p:cNvPr>
          <p:cNvPicPr>
            <a:picLocks noChangeAspect="1"/>
          </p:cNvPicPr>
          <p:nvPr/>
        </p:nvPicPr>
        <p:blipFill>
          <a:blip r:embed="rId5"/>
          <a:stretch>
            <a:fillRect/>
          </a:stretch>
        </p:blipFill>
        <p:spPr>
          <a:xfrm>
            <a:off x="7145122" y="2746858"/>
            <a:ext cx="404165" cy="404165"/>
          </a:xfrm>
          <a:prstGeom prst="rect">
            <a:avLst/>
          </a:prstGeom>
        </p:spPr>
      </p:pic>
      <p:sp>
        <p:nvSpPr>
          <p:cNvPr id="24" name="Text 17"/>
          <p:cNvSpPr/>
          <p:nvPr/>
        </p:nvSpPr>
        <p:spPr>
          <a:xfrm>
            <a:off x="6272784" y="3566160"/>
            <a:ext cx="2148840" cy="457200"/>
          </a:xfrm>
          <a:prstGeom prst="rect">
            <a:avLst/>
          </a:prstGeom>
          <a:noFill/>
          <a:ln/>
        </p:spPr>
        <p:txBody>
          <a:bodyPr wrap="square" lIns="0" tIns="0" rIns="0" bIns="0" rtlCol="0" anchor="ctr"/>
          <a:lstStyle/>
          <a:p>
            <a:pPr algn="ctr" indent="0" marL="0">
              <a:buNone/>
            </a:pPr>
            <a:r>
              <a:rPr lang="en-US" sz="1550" b="1" dirty="0">
                <a:solidFill>
                  <a:srgbClr val="1B2A4A"/>
                </a:solidFill>
                <a:latin typeface="Cambria" pitchFamily="34" charset="0"/>
                <a:ea typeface="Cambria" pitchFamily="34" charset="-122"/>
                <a:cs typeface="Cambria" pitchFamily="34" charset="-120"/>
              </a:rPr>
              <a:t>Validar cruces</a:t>
            </a:r>
            <a:endParaRPr lang="en-US" sz="1550" dirty="0"/>
          </a:p>
        </p:txBody>
      </p:sp>
      <p:sp>
        <p:nvSpPr>
          <p:cNvPr id="25" name="Text 18"/>
          <p:cNvSpPr/>
          <p:nvPr/>
        </p:nvSpPr>
        <p:spPr>
          <a:xfrm>
            <a:off x="6318504" y="4069080"/>
            <a:ext cx="2057400" cy="1234440"/>
          </a:xfrm>
          <a:prstGeom prst="rect">
            <a:avLst/>
          </a:prstGeom>
          <a:noFill/>
          <a:ln/>
        </p:spPr>
        <p:txBody>
          <a:bodyPr wrap="square" lIns="0" tIns="0" rIns="0" bIns="0" rtlCol="0" anchor="ctr"/>
          <a:lstStyle/>
          <a:p>
            <a:pPr algn="ctr" indent="0" marL="0">
              <a:buNone/>
            </a:pPr>
            <a:r>
              <a:rPr lang="en-US" sz="1200" dirty="0">
                <a:solidFill>
                  <a:srgbClr val="1E1E1E"/>
                </a:solidFill>
                <a:latin typeface="Calibri" pitchFamily="34" charset="0"/>
                <a:ea typeface="Calibri" pitchFamily="34" charset="-122"/>
                <a:cs typeface="Calibri" pitchFamily="34" charset="-120"/>
              </a:rPr>
              <a:t>El sistema escanea en un clic si hay choques.</a:t>
            </a:r>
            <a:endParaRPr lang="en-US" sz="1200" dirty="0"/>
          </a:p>
        </p:txBody>
      </p:sp>
      <p:sp>
        <p:nvSpPr>
          <p:cNvPr id="26" name="Shape 19"/>
          <p:cNvSpPr/>
          <p:nvPr/>
        </p:nvSpPr>
        <p:spPr>
          <a:xfrm>
            <a:off x="8558784" y="3483864"/>
            <a:ext cx="347472" cy="347472"/>
          </a:xfrm>
          <a:prstGeom prst="ellipse">
            <a:avLst/>
          </a:prstGeom>
          <a:solidFill>
            <a:srgbClr val="C7CDD3"/>
          </a:solidFill>
          <a:ln/>
        </p:spPr>
      </p:sp>
      <p:pic>
        <p:nvPicPr>
          <p:cNvPr id="27" name="Image 5" descr="icons/arrow.png">    </p:cNvPr>
          <p:cNvPicPr>
            <a:picLocks noChangeAspect="1"/>
          </p:cNvPicPr>
          <p:nvPr/>
        </p:nvPicPr>
        <p:blipFill>
          <a:blip r:embed="rId6"/>
          <a:stretch>
            <a:fillRect/>
          </a:stretch>
        </p:blipFill>
        <p:spPr>
          <a:xfrm>
            <a:off x="8628278" y="3553358"/>
            <a:ext cx="208483" cy="208483"/>
          </a:xfrm>
          <a:prstGeom prst="rect">
            <a:avLst/>
          </a:prstGeom>
        </p:spPr>
      </p:pic>
      <p:sp>
        <p:nvSpPr>
          <p:cNvPr id="28" name="Shape 20"/>
          <p:cNvSpPr/>
          <p:nvPr/>
        </p:nvSpPr>
        <p:spPr>
          <a:xfrm>
            <a:off x="8860536" y="1874520"/>
            <a:ext cx="2514600" cy="3566160"/>
          </a:xfrm>
          <a:prstGeom prst="roundRect">
            <a:avLst>
              <a:gd name="adj" fmla="val 4364"/>
            </a:avLst>
          </a:prstGeom>
          <a:solidFill>
            <a:srgbClr val="FFFFFF"/>
          </a:solidFill>
          <a:ln/>
          <a:effectLst>
            <a:outerShdw sx="100000" sy="100000" kx="0" ky="0" algn="bl" rotWithShape="0" blurRad="88900" dist="38100" dir="5400000">
              <a:srgbClr val="000000">
                <a:alpha val="14000"/>
              </a:srgbClr>
            </a:outerShdw>
          </a:effectLst>
        </p:spPr>
      </p:sp>
      <p:sp>
        <p:nvSpPr>
          <p:cNvPr id="29" name="Text 21"/>
          <p:cNvSpPr/>
          <p:nvPr/>
        </p:nvSpPr>
        <p:spPr>
          <a:xfrm>
            <a:off x="9025128" y="1984248"/>
            <a:ext cx="640080" cy="548640"/>
          </a:xfrm>
          <a:prstGeom prst="rect">
            <a:avLst/>
          </a:prstGeom>
          <a:noFill/>
          <a:ln/>
        </p:spPr>
        <p:txBody>
          <a:bodyPr wrap="square" lIns="0" tIns="0" rIns="0" bIns="0" rtlCol="0" anchor="ctr"/>
          <a:lstStyle/>
          <a:p>
            <a:pPr indent="0" marL="0">
              <a:buNone/>
            </a:pPr>
            <a:r>
              <a:rPr lang="en-US" sz="2600" b="1" dirty="0">
                <a:solidFill>
                  <a:srgbClr val="D8DEE4"/>
                </a:solidFill>
                <a:latin typeface="Cambria" pitchFamily="34" charset="0"/>
                <a:ea typeface="Cambria" pitchFamily="34" charset="-122"/>
                <a:cs typeface="Cambria" pitchFamily="34" charset="-120"/>
              </a:rPr>
              <a:t>4</a:t>
            </a:r>
            <a:endParaRPr lang="en-US" sz="2600" dirty="0"/>
          </a:p>
        </p:txBody>
      </p:sp>
      <p:sp>
        <p:nvSpPr>
          <p:cNvPr id="30" name="Shape 22"/>
          <p:cNvSpPr/>
          <p:nvPr/>
        </p:nvSpPr>
        <p:spPr>
          <a:xfrm>
            <a:off x="9729216" y="2560320"/>
            <a:ext cx="777240" cy="777240"/>
          </a:xfrm>
          <a:prstGeom prst="ellipse">
            <a:avLst/>
          </a:prstGeom>
          <a:solidFill>
            <a:srgbClr val="39A900"/>
          </a:solidFill>
          <a:ln/>
        </p:spPr>
      </p:sp>
      <p:pic>
        <p:nvPicPr>
          <p:cNvPr id="31" name="Image 6" descr="icons/rocket.png">    </p:cNvPr>
          <p:cNvPicPr>
            <a:picLocks noChangeAspect="1"/>
          </p:cNvPicPr>
          <p:nvPr/>
        </p:nvPicPr>
        <p:blipFill>
          <a:blip r:embed="rId7"/>
          <a:stretch>
            <a:fillRect/>
          </a:stretch>
        </p:blipFill>
        <p:spPr>
          <a:xfrm>
            <a:off x="9915754" y="2746858"/>
            <a:ext cx="404165" cy="404165"/>
          </a:xfrm>
          <a:prstGeom prst="rect">
            <a:avLst/>
          </a:prstGeom>
        </p:spPr>
      </p:pic>
      <p:sp>
        <p:nvSpPr>
          <p:cNvPr id="32" name="Text 23"/>
          <p:cNvSpPr/>
          <p:nvPr/>
        </p:nvSpPr>
        <p:spPr>
          <a:xfrm>
            <a:off x="9043416" y="3566160"/>
            <a:ext cx="2148840" cy="457200"/>
          </a:xfrm>
          <a:prstGeom prst="rect">
            <a:avLst/>
          </a:prstGeom>
          <a:noFill/>
          <a:ln/>
        </p:spPr>
        <p:txBody>
          <a:bodyPr wrap="square" lIns="0" tIns="0" rIns="0" bIns="0" rtlCol="0" anchor="ctr"/>
          <a:lstStyle/>
          <a:p>
            <a:pPr algn="ctr" indent="0" marL="0">
              <a:buNone/>
            </a:pPr>
            <a:r>
              <a:rPr lang="en-US" sz="1550" b="1" dirty="0">
                <a:solidFill>
                  <a:srgbClr val="1B2A4A"/>
                </a:solidFill>
                <a:latin typeface="Cambria" pitchFamily="34" charset="0"/>
                <a:ea typeface="Cambria" pitchFamily="34" charset="-122"/>
                <a:cs typeface="Cambria" pitchFamily="34" charset="-120"/>
              </a:rPr>
              <a:t>Publicar oficial</a:t>
            </a:r>
            <a:endParaRPr lang="en-US" sz="1550" dirty="0"/>
          </a:p>
        </p:txBody>
      </p:sp>
      <p:sp>
        <p:nvSpPr>
          <p:cNvPr id="33" name="Text 24"/>
          <p:cNvSpPr/>
          <p:nvPr/>
        </p:nvSpPr>
        <p:spPr>
          <a:xfrm>
            <a:off x="9089136" y="4069080"/>
            <a:ext cx="2057400" cy="1234440"/>
          </a:xfrm>
          <a:prstGeom prst="rect">
            <a:avLst/>
          </a:prstGeom>
          <a:noFill/>
          <a:ln/>
        </p:spPr>
        <p:txBody>
          <a:bodyPr wrap="square" lIns="0" tIns="0" rIns="0" bIns="0" rtlCol="0" anchor="ctr"/>
          <a:lstStyle/>
          <a:p>
            <a:pPr algn="ctr" indent="0" marL="0">
              <a:buNone/>
            </a:pPr>
            <a:r>
              <a:rPr lang="en-US" sz="1200" dirty="0">
                <a:solidFill>
                  <a:srgbClr val="1E1E1E"/>
                </a:solidFill>
                <a:latin typeface="Calibri" pitchFamily="34" charset="0"/>
                <a:ea typeface="Calibri" pitchFamily="34" charset="-122"/>
                <a:cs typeface="Calibri" pitchFamily="34" charset="-120"/>
              </a:rPr>
              <a:t>Se aprueba y queda bloqueado en modo oficial para consulta de todos.</a:t>
            </a:r>
            <a:endParaRPr lang="en-US" sz="1200" dirty="0"/>
          </a:p>
        </p:txBody>
      </p:sp>
      <p:sp>
        <p:nvSpPr>
          <p:cNvPr id="34" name="Text 25"/>
          <p:cNvSpPr/>
          <p:nvPr/>
        </p:nvSpPr>
        <p:spPr>
          <a:xfrm>
            <a:off x="457200" y="6492240"/>
            <a:ext cx="5486400" cy="274320"/>
          </a:xfrm>
          <a:prstGeom prst="rect">
            <a:avLst/>
          </a:prstGeom>
          <a:noFill/>
          <a:ln/>
        </p:spPr>
        <p:txBody>
          <a:bodyPr wrap="square" rtlCol="0" anchor="ctr"/>
          <a:lstStyle/>
          <a:p>
            <a:pPr algn="l" indent="0" marL="0">
              <a:buNone/>
            </a:pPr>
            <a:r>
              <a:rPr lang="en-US" sz="1000" dirty="0">
                <a:solidFill>
                  <a:srgbClr val="5B6570"/>
                </a:solidFill>
                <a:latin typeface="Calibri" pitchFamily="34" charset="0"/>
                <a:ea typeface="Calibri" pitchFamily="34" charset="-122"/>
                <a:cs typeface="Calibri" pitchFamily="34" charset="-120"/>
              </a:rPr>
              <a:t>SENA — Gestión de Horarios</a:t>
            </a:r>
            <a:endParaRPr lang="en-US" sz="1000" dirty="0"/>
          </a:p>
        </p:txBody>
      </p:sp>
      <p:sp>
        <p:nvSpPr>
          <p:cNvPr id="35" name="Text 26"/>
          <p:cNvSpPr/>
          <p:nvPr/>
        </p:nvSpPr>
        <p:spPr>
          <a:xfrm>
            <a:off x="11274552" y="6492240"/>
            <a:ext cx="457200" cy="274320"/>
          </a:xfrm>
          <a:prstGeom prst="rect">
            <a:avLst/>
          </a:prstGeom>
          <a:noFill/>
          <a:ln/>
        </p:spPr>
        <p:txBody>
          <a:bodyPr wrap="square"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400" b="1" spc="200" kern="0" dirty="0">
                <a:solidFill>
                  <a:srgbClr val="39A900"/>
                </a:solidFill>
                <a:latin typeface="Calibri" pitchFamily="34" charset="0"/>
                <a:ea typeface="Calibri" pitchFamily="34" charset="-122"/>
                <a:cs typeface="Calibri" pitchFamily="34" charset="-120"/>
              </a:rPr>
              <a:t>INTELIGENCIA DEL SISTEMA</a:t>
            </a:r>
            <a:endParaRPr lang="en-US" sz="14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Los 5 tipos de choques que prevenimos</a:t>
            </a:r>
            <a:endParaRPr lang="en-US" sz="3200" dirty="0"/>
          </a:p>
        </p:txBody>
      </p:sp>
      <p:sp>
        <p:nvSpPr>
          <p:cNvPr id="4" name="Shape 2"/>
          <p:cNvSpPr/>
          <p:nvPr/>
        </p:nvSpPr>
        <p:spPr>
          <a:xfrm>
            <a:off x="548640" y="1691640"/>
            <a:ext cx="10881360" cy="786384"/>
          </a:xfrm>
          <a:prstGeom prst="roundRect">
            <a:avLst>
              <a:gd name="adj" fmla="val 9302"/>
            </a:avLst>
          </a:prstGeom>
          <a:solidFill>
            <a:srgbClr val="13203A"/>
          </a:solidFill>
          <a:ln/>
        </p:spPr>
      </p:sp>
      <p:sp>
        <p:nvSpPr>
          <p:cNvPr id="5" name="Shape 3"/>
          <p:cNvSpPr/>
          <p:nvPr/>
        </p:nvSpPr>
        <p:spPr>
          <a:xfrm>
            <a:off x="777240" y="1819656"/>
            <a:ext cx="530352" cy="530352"/>
          </a:xfrm>
          <a:prstGeom prst="ellipse">
            <a:avLst/>
          </a:prstGeom>
          <a:solidFill>
            <a:srgbClr val="39A900"/>
          </a:solidFill>
          <a:ln/>
        </p:spPr>
      </p:sp>
      <p:pic>
        <p:nvPicPr>
          <p:cNvPr id="6" name="Image 0" descr="icons/user.png">    </p:cNvPr>
          <p:cNvPicPr>
            <a:picLocks noChangeAspect="1"/>
          </p:cNvPicPr>
          <p:nvPr/>
        </p:nvPicPr>
        <p:blipFill>
          <a:blip r:embed="rId1"/>
          <a:stretch>
            <a:fillRect/>
          </a:stretch>
        </p:blipFill>
        <p:spPr>
          <a:xfrm>
            <a:off x="896569" y="1938985"/>
            <a:ext cx="291694" cy="291694"/>
          </a:xfrm>
          <a:prstGeom prst="rect">
            <a:avLst/>
          </a:prstGeom>
        </p:spPr>
      </p:pic>
      <p:sp>
        <p:nvSpPr>
          <p:cNvPr id="7" name="Text 4"/>
          <p:cNvSpPr/>
          <p:nvPr/>
        </p:nvSpPr>
        <p:spPr>
          <a:xfrm>
            <a:off x="1508760" y="1764792"/>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Profesor doble asignado</a:t>
            </a:r>
            <a:endParaRPr lang="en-US" sz="1450" dirty="0"/>
          </a:p>
        </p:txBody>
      </p:sp>
      <p:sp>
        <p:nvSpPr>
          <p:cNvPr id="8" name="Text 5"/>
          <p:cNvSpPr/>
          <p:nvPr/>
        </p:nvSpPr>
        <p:spPr>
          <a:xfrm>
            <a:off x="1508760" y="2093976"/>
            <a:ext cx="6035040" cy="365760"/>
          </a:xfrm>
          <a:prstGeom prst="rect">
            <a:avLst/>
          </a:prstGeom>
          <a:noFill/>
          <a:ln/>
        </p:spPr>
        <p:txBody>
          <a:bodyPr wrap="square" lIns="0" tIns="0" rIns="0" bIns="0" rtlCol="0" anchor="ctr"/>
          <a:lstStyle/>
          <a:p>
            <a:pPr indent="0" marL="0">
              <a:buNone/>
            </a:pPr>
            <a:r>
              <a:rPr lang="en-US" sz="1150" dirty="0">
                <a:solidFill>
                  <a:srgbClr val="B9C4CE"/>
                </a:solidFill>
                <a:latin typeface="Calibri" pitchFamily="34" charset="0"/>
                <a:ea typeface="Calibri" pitchFamily="34" charset="-122"/>
                <a:cs typeface="Calibri" pitchFamily="34" charset="-120"/>
              </a:rPr>
              <a:t>El docente tiene dos clases a la misma hora.</a:t>
            </a:r>
            <a:endParaRPr lang="en-US" sz="1150" dirty="0"/>
          </a:p>
        </p:txBody>
      </p:sp>
      <p:sp>
        <p:nvSpPr>
          <p:cNvPr id="9" name="Shape 6"/>
          <p:cNvSpPr/>
          <p:nvPr/>
        </p:nvSpPr>
        <p:spPr>
          <a:xfrm>
            <a:off x="9464040" y="1883664"/>
            <a:ext cx="1234440" cy="402336"/>
          </a:xfrm>
          <a:prstGeom prst="roundRect">
            <a:avLst>
              <a:gd name="adj" fmla="val 18182"/>
            </a:avLst>
          </a:prstGeom>
          <a:solidFill>
            <a:srgbClr val="C0392B"/>
          </a:solidFill>
          <a:ln/>
        </p:spPr>
      </p:sp>
      <p:sp>
        <p:nvSpPr>
          <p:cNvPr id="10" name="Text 7"/>
          <p:cNvSpPr/>
          <p:nvPr/>
        </p:nvSpPr>
        <p:spPr>
          <a:xfrm>
            <a:off x="9464040" y="1883664"/>
            <a:ext cx="1234440"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Bloqueante</a:t>
            </a:r>
            <a:endParaRPr lang="en-US" sz="1050" dirty="0"/>
          </a:p>
        </p:txBody>
      </p:sp>
      <p:sp>
        <p:nvSpPr>
          <p:cNvPr id="11" name="Shape 8"/>
          <p:cNvSpPr/>
          <p:nvPr/>
        </p:nvSpPr>
        <p:spPr>
          <a:xfrm>
            <a:off x="548640" y="2560320"/>
            <a:ext cx="10881360" cy="786384"/>
          </a:xfrm>
          <a:prstGeom prst="roundRect">
            <a:avLst>
              <a:gd name="adj" fmla="val 9302"/>
            </a:avLst>
          </a:prstGeom>
          <a:solidFill>
            <a:srgbClr val="13203A"/>
          </a:solidFill>
          <a:ln/>
        </p:spPr>
      </p:sp>
      <p:sp>
        <p:nvSpPr>
          <p:cNvPr id="12" name="Shape 9"/>
          <p:cNvSpPr/>
          <p:nvPr/>
        </p:nvSpPr>
        <p:spPr>
          <a:xfrm>
            <a:off x="777240" y="2688336"/>
            <a:ext cx="530352" cy="530352"/>
          </a:xfrm>
          <a:prstGeom prst="ellipse">
            <a:avLst/>
          </a:prstGeom>
          <a:solidFill>
            <a:srgbClr val="39A900"/>
          </a:solidFill>
          <a:ln/>
        </p:spPr>
      </p:sp>
      <p:pic>
        <p:nvPicPr>
          <p:cNvPr id="13" name="Image 1" descr="icons/building.png">    </p:cNvPr>
          <p:cNvPicPr>
            <a:picLocks noChangeAspect="1"/>
          </p:cNvPicPr>
          <p:nvPr/>
        </p:nvPicPr>
        <p:blipFill>
          <a:blip r:embed="rId2"/>
          <a:stretch>
            <a:fillRect/>
          </a:stretch>
        </p:blipFill>
        <p:spPr>
          <a:xfrm>
            <a:off x="896569" y="2807665"/>
            <a:ext cx="291694" cy="291694"/>
          </a:xfrm>
          <a:prstGeom prst="rect">
            <a:avLst/>
          </a:prstGeom>
        </p:spPr>
      </p:pic>
      <p:sp>
        <p:nvSpPr>
          <p:cNvPr id="14" name="Text 10"/>
          <p:cNvSpPr/>
          <p:nvPr/>
        </p:nvSpPr>
        <p:spPr>
          <a:xfrm>
            <a:off x="1508760" y="2633472"/>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Salón ocupado</a:t>
            </a:r>
            <a:endParaRPr lang="en-US" sz="1450" dirty="0"/>
          </a:p>
        </p:txBody>
      </p:sp>
      <p:sp>
        <p:nvSpPr>
          <p:cNvPr id="15" name="Text 11"/>
          <p:cNvSpPr/>
          <p:nvPr/>
        </p:nvSpPr>
        <p:spPr>
          <a:xfrm>
            <a:off x="1508760" y="2962656"/>
            <a:ext cx="6035040" cy="365760"/>
          </a:xfrm>
          <a:prstGeom prst="rect">
            <a:avLst/>
          </a:prstGeom>
          <a:noFill/>
          <a:ln/>
        </p:spPr>
        <p:txBody>
          <a:bodyPr wrap="square" lIns="0" tIns="0" rIns="0" bIns="0" rtlCol="0" anchor="ctr"/>
          <a:lstStyle/>
          <a:p>
            <a:pPr indent="0" marL="0">
              <a:buNone/>
            </a:pPr>
            <a:r>
              <a:rPr lang="en-US" sz="1150" dirty="0">
                <a:solidFill>
                  <a:srgbClr val="B9C4CE"/>
                </a:solidFill>
                <a:latin typeface="Calibri" pitchFamily="34" charset="0"/>
                <a:ea typeface="Calibri" pitchFamily="34" charset="-122"/>
                <a:cs typeface="Calibri" pitchFamily="34" charset="-120"/>
              </a:rPr>
              <a:t>Dos fichas reservaron el mismo laboratorio.</a:t>
            </a:r>
            <a:endParaRPr lang="en-US" sz="1150" dirty="0"/>
          </a:p>
        </p:txBody>
      </p:sp>
      <p:sp>
        <p:nvSpPr>
          <p:cNvPr id="16" name="Shape 12"/>
          <p:cNvSpPr/>
          <p:nvPr/>
        </p:nvSpPr>
        <p:spPr>
          <a:xfrm>
            <a:off x="9464040" y="2752344"/>
            <a:ext cx="1234440" cy="402336"/>
          </a:xfrm>
          <a:prstGeom prst="roundRect">
            <a:avLst>
              <a:gd name="adj" fmla="val 18182"/>
            </a:avLst>
          </a:prstGeom>
          <a:solidFill>
            <a:srgbClr val="C0392B"/>
          </a:solidFill>
          <a:ln/>
        </p:spPr>
      </p:sp>
      <p:sp>
        <p:nvSpPr>
          <p:cNvPr id="17" name="Text 13"/>
          <p:cNvSpPr/>
          <p:nvPr/>
        </p:nvSpPr>
        <p:spPr>
          <a:xfrm>
            <a:off x="9464040" y="2752344"/>
            <a:ext cx="1234440"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Bloqueante</a:t>
            </a:r>
            <a:endParaRPr lang="en-US" sz="1050" dirty="0"/>
          </a:p>
        </p:txBody>
      </p:sp>
      <p:sp>
        <p:nvSpPr>
          <p:cNvPr id="18" name="Shape 14"/>
          <p:cNvSpPr/>
          <p:nvPr/>
        </p:nvSpPr>
        <p:spPr>
          <a:xfrm>
            <a:off x="548640" y="3429000"/>
            <a:ext cx="10881360" cy="786384"/>
          </a:xfrm>
          <a:prstGeom prst="roundRect">
            <a:avLst>
              <a:gd name="adj" fmla="val 9302"/>
            </a:avLst>
          </a:prstGeom>
          <a:solidFill>
            <a:srgbClr val="13203A"/>
          </a:solidFill>
          <a:ln/>
        </p:spPr>
      </p:sp>
      <p:sp>
        <p:nvSpPr>
          <p:cNvPr id="19" name="Shape 15"/>
          <p:cNvSpPr/>
          <p:nvPr/>
        </p:nvSpPr>
        <p:spPr>
          <a:xfrm>
            <a:off x="777240" y="3557016"/>
            <a:ext cx="530352" cy="530352"/>
          </a:xfrm>
          <a:prstGeom prst="ellipse">
            <a:avLst/>
          </a:prstGeom>
          <a:solidFill>
            <a:srgbClr val="39A900"/>
          </a:solidFill>
          <a:ln/>
        </p:spPr>
      </p:sp>
      <p:pic>
        <p:nvPicPr>
          <p:cNvPr id="20" name="Image 2" descr="icons/calendar.png">    </p:cNvPr>
          <p:cNvPicPr>
            <a:picLocks noChangeAspect="1"/>
          </p:cNvPicPr>
          <p:nvPr/>
        </p:nvPicPr>
        <p:blipFill>
          <a:blip r:embed="rId3"/>
          <a:stretch>
            <a:fillRect/>
          </a:stretch>
        </p:blipFill>
        <p:spPr>
          <a:xfrm>
            <a:off x="896569" y="3676345"/>
            <a:ext cx="291694" cy="291694"/>
          </a:xfrm>
          <a:prstGeom prst="rect">
            <a:avLst/>
          </a:prstGeom>
        </p:spPr>
      </p:pic>
      <p:sp>
        <p:nvSpPr>
          <p:cNvPr id="21" name="Text 16"/>
          <p:cNvSpPr/>
          <p:nvPr/>
        </p:nvSpPr>
        <p:spPr>
          <a:xfrm>
            <a:off x="1508760" y="3502152"/>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Cruce de materias</a:t>
            </a:r>
            <a:endParaRPr lang="en-US" sz="1450" dirty="0"/>
          </a:p>
        </p:txBody>
      </p:sp>
      <p:sp>
        <p:nvSpPr>
          <p:cNvPr id="22" name="Text 17"/>
          <p:cNvSpPr/>
          <p:nvPr/>
        </p:nvSpPr>
        <p:spPr>
          <a:xfrm>
            <a:off x="1508760" y="3831336"/>
            <a:ext cx="6035040" cy="365760"/>
          </a:xfrm>
          <a:prstGeom prst="rect">
            <a:avLst/>
          </a:prstGeom>
          <a:noFill/>
          <a:ln/>
        </p:spPr>
        <p:txBody>
          <a:bodyPr wrap="square" lIns="0" tIns="0" rIns="0" bIns="0" rtlCol="0" anchor="ctr"/>
          <a:lstStyle/>
          <a:p>
            <a:pPr indent="0" marL="0">
              <a:buNone/>
            </a:pPr>
            <a:r>
              <a:rPr lang="en-US" sz="1150" dirty="0">
                <a:solidFill>
                  <a:srgbClr val="B9C4CE"/>
                </a:solidFill>
                <a:latin typeface="Calibri" pitchFamily="34" charset="0"/>
                <a:ea typeface="Calibri" pitchFamily="34" charset="-122"/>
                <a:cs typeface="Calibri" pitchFamily="34" charset="-120"/>
              </a:rPr>
              <a:t>Dos materias del mismo grupo a la misma hora.</a:t>
            </a:r>
            <a:endParaRPr lang="en-US" sz="1150" dirty="0"/>
          </a:p>
        </p:txBody>
      </p:sp>
      <p:sp>
        <p:nvSpPr>
          <p:cNvPr id="23" name="Shape 18"/>
          <p:cNvSpPr/>
          <p:nvPr/>
        </p:nvSpPr>
        <p:spPr>
          <a:xfrm>
            <a:off x="9464040" y="3621024"/>
            <a:ext cx="1234440" cy="402336"/>
          </a:xfrm>
          <a:prstGeom prst="roundRect">
            <a:avLst>
              <a:gd name="adj" fmla="val 18182"/>
            </a:avLst>
          </a:prstGeom>
          <a:solidFill>
            <a:srgbClr val="C0392B"/>
          </a:solidFill>
          <a:ln/>
        </p:spPr>
      </p:sp>
      <p:sp>
        <p:nvSpPr>
          <p:cNvPr id="24" name="Text 19"/>
          <p:cNvSpPr/>
          <p:nvPr/>
        </p:nvSpPr>
        <p:spPr>
          <a:xfrm>
            <a:off x="9464040" y="3621024"/>
            <a:ext cx="1234440"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Bloqueante</a:t>
            </a:r>
            <a:endParaRPr lang="en-US" sz="1050" dirty="0"/>
          </a:p>
        </p:txBody>
      </p:sp>
      <p:sp>
        <p:nvSpPr>
          <p:cNvPr id="25" name="Shape 20"/>
          <p:cNvSpPr/>
          <p:nvPr/>
        </p:nvSpPr>
        <p:spPr>
          <a:xfrm>
            <a:off x="548640" y="4297680"/>
            <a:ext cx="10881360" cy="786384"/>
          </a:xfrm>
          <a:prstGeom prst="roundRect">
            <a:avLst>
              <a:gd name="adj" fmla="val 9302"/>
            </a:avLst>
          </a:prstGeom>
          <a:solidFill>
            <a:srgbClr val="13203A"/>
          </a:solidFill>
          <a:ln/>
        </p:spPr>
      </p:sp>
      <p:sp>
        <p:nvSpPr>
          <p:cNvPr id="26" name="Shape 21"/>
          <p:cNvSpPr/>
          <p:nvPr/>
        </p:nvSpPr>
        <p:spPr>
          <a:xfrm>
            <a:off x="777240" y="4425696"/>
            <a:ext cx="530352" cy="530352"/>
          </a:xfrm>
          <a:prstGeom prst="ellipse">
            <a:avLst/>
          </a:prstGeom>
          <a:solidFill>
            <a:srgbClr val="39A900"/>
          </a:solidFill>
          <a:ln/>
        </p:spPr>
      </p:sp>
      <p:pic>
        <p:nvPicPr>
          <p:cNvPr id="27" name="Image 3" descr="icons/tools.png">    </p:cNvPr>
          <p:cNvPicPr>
            <a:picLocks noChangeAspect="1"/>
          </p:cNvPicPr>
          <p:nvPr/>
        </p:nvPicPr>
        <p:blipFill>
          <a:blip r:embed="rId4"/>
          <a:stretch>
            <a:fillRect/>
          </a:stretch>
        </p:blipFill>
        <p:spPr>
          <a:xfrm>
            <a:off x="896569" y="4545025"/>
            <a:ext cx="291694" cy="291694"/>
          </a:xfrm>
          <a:prstGeom prst="rect">
            <a:avLst/>
          </a:prstGeom>
        </p:spPr>
      </p:pic>
      <p:sp>
        <p:nvSpPr>
          <p:cNvPr id="28" name="Text 22"/>
          <p:cNvSpPr/>
          <p:nvPr/>
        </p:nvSpPr>
        <p:spPr>
          <a:xfrm>
            <a:off x="1508760" y="4370832"/>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Salón en mantenimiento</a:t>
            </a:r>
            <a:endParaRPr lang="en-US" sz="1450" dirty="0"/>
          </a:p>
        </p:txBody>
      </p:sp>
      <p:sp>
        <p:nvSpPr>
          <p:cNvPr id="29" name="Text 23"/>
          <p:cNvSpPr/>
          <p:nvPr/>
        </p:nvSpPr>
        <p:spPr>
          <a:xfrm>
            <a:off x="1508760" y="4700016"/>
            <a:ext cx="6035040" cy="365760"/>
          </a:xfrm>
          <a:prstGeom prst="rect">
            <a:avLst/>
          </a:prstGeom>
          <a:noFill/>
          <a:ln/>
        </p:spPr>
        <p:txBody>
          <a:bodyPr wrap="square" lIns="0" tIns="0" rIns="0" bIns="0" rtlCol="0" anchor="ctr"/>
          <a:lstStyle/>
          <a:p>
            <a:pPr indent="0" marL="0">
              <a:buNone/>
            </a:pPr>
            <a:r>
              <a:rPr lang="en-US" sz="1150" dirty="0">
                <a:solidFill>
                  <a:srgbClr val="B9C4CE"/>
                </a:solidFill>
                <a:latin typeface="Calibri" pitchFamily="34" charset="0"/>
                <a:ea typeface="Calibri" pitchFamily="34" charset="-122"/>
                <a:cs typeface="Calibri" pitchFamily="34" charset="-120"/>
              </a:rPr>
              <a:t>El taller tiene reparaciones programadas.</a:t>
            </a:r>
            <a:endParaRPr lang="en-US" sz="1150" dirty="0"/>
          </a:p>
        </p:txBody>
      </p:sp>
      <p:sp>
        <p:nvSpPr>
          <p:cNvPr id="30" name="Shape 24"/>
          <p:cNvSpPr/>
          <p:nvPr/>
        </p:nvSpPr>
        <p:spPr>
          <a:xfrm>
            <a:off x="9464040" y="4489704"/>
            <a:ext cx="1234440" cy="402336"/>
          </a:xfrm>
          <a:prstGeom prst="roundRect">
            <a:avLst>
              <a:gd name="adj" fmla="val 18182"/>
            </a:avLst>
          </a:prstGeom>
          <a:solidFill>
            <a:srgbClr val="C98A00"/>
          </a:solidFill>
          <a:ln/>
        </p:spPr>
      </p:sp>
      <p:sp>
        <p:nvSpPr>
          <p:cNvPr id="31" name="Text 25"/>
          <p:cNvSpPr/>
          <p:nvPr/>
        </p:nvSpPr>
        <p:spPr>
          <a:xfrm>
            <a:off x="9464040" y="4489704"/>
            <a:ext cx="1234440"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Advertencia</a:t>
            </a:r>
            <a:endParaRPr lang="en-US" sz="1050" dirty="0"/>
          </a:p>
        </p:txBody>
      </p:sp>
      <p:sp>
        <p:nvSpPr>
          <p:cNvPr id="32" name="Shape 26"/>
          <p:cNvSpPr/>
          <p:nvPr/>
        </p:nvSpPr>
        <p:spPr>
          <a:xfrm>
            <a:off x="548640" y="5166360"/>
            <a:ext cx="10881360" cy="786384"/>
          </a:xfrm>
          <a:prstGeom prst="roundRect">
            <a:avLst>
              <a:gd name="adj" fmla="val 9302"/>
            </a:avLst>
          </a:prstGeom>
          <a:solidFill>
            <a:srgbClr val="13203A"/>
          </a:solidFill>
          <a:ln/>
        </p:spPr>
      </p:sp>
      <p:sp>
        <p:nvSpPr>
          <p:cNvPr id="33" name="Shape 27"/>
          <p:cNvSpPr/>
          <p:nvPr/>
        </p:nvSpPr>
        <p:spPr>
          <a:xfrm>
            <a:off x="777240" y="5294376"/>
            <a:ext cx="530352" cy="530352"/>
          </a:xfrm>
          <a:prstGeom prst="ellipse">
            <a:avLst/>
          </a:prstGeom>
          <a:solidFill>
            <a:srgbClr val="39A900"/>
          </a:solidFill>
          <a:ln/>
        </p:spPr>
      </p:sp>
      <p:pic>
        <p:nvPicPr>
          <p:cNvPr id="34" name="Image 4" descr="icons/car.png">    </p:cNvPr>
          <p:cNvPicPr>
            <a:picLocks noChangeAspect="1"/>
          </p:cNvPicPr>
          <p:nvPr/>
        </p:nvPicPr>
        <p:blipFill>
          <a:blip r:embed="rId5"/>
          <a:stretch>
            <a:fillRect/>
          </a:stretch>
        </p:blipFill>
        <p:spPr>
          <a:xfrm>
            <a:off x="896569" y="5413705"/>
            <a:ext cx="291694" cy="291694"/>
          </a:xfrm>
          <a:prstGeom prst="rect">
            <a:avLst/>
          </a:prstGeom>
        </p:spPr>
      </p:pic>
      <p:sp>
        <p:nvSpPr>
          <p:cNvPr id="35" name="Text 28"/>
          <p:cNvSpPr/>
          <p:nvPr/>
        </p:nvSpPr>
        <p:spPr>
          <a:xfrm>
            <a:off x="1508760" y="5239512"/>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Traslado insuficiente</a:t>
            </a:r>
            <a:endParaRPr lang="en-US" sz="1450" dirty="0"/>
          </a:p>
        </p:txBody>
      </p:sp>
      <p:sp>
        <p:nvSpPr>
          <p:cNvPr id="36" name="Text 29"/>
          <p:cNvSpPr/>
          <p:nvPr/>
        </p:nvSpPr>
        <p:spPr>
          <a:xfrm>
            <a:off x="1508760" y="5568696"/>
            <a:ext cx="6035040" cy="365760"/>
          </a:xfrm>
          <a:prstGeom prst="rect">
            <a:avLst/>
          </a:prstGeom>
          <a:noFill/>
          <a:ln/>
        </p:spPr>
        <p:txBody>
          <a:bodyPr wrap="square" lIns="0" tIns="0" rIns="0" bIns="0" rtlCol="0" anchor="ctr"/>
          <a:lstStyle/>
          <a:p>
            <a:pPr indent="0" marL="0">
              <a:buNone/>
            </a:pPr>
            <a:r>
              <a:rPr lang="en-US" sz="1150" dirty="0">
                <a:solidFill>
                  <a:srgbClr val="B9C4CE"/>
                </a:solidFill>
                <a:latin typeface="Calibri" pitchFamily="34" charset="0"/>
                <a:ea typeface="Calibri" pitchFamily="34" charset="-122"/>
                <a:cs typeface="Calibri" pitchFamily="34" charset="-120"/>
              </a:rPr>
              <a:t>Menos de 30 min para viajar entre dos sedes distintas.</a:t>
            </a:r>
            <a:endParaRPr lang="en-US" sz="1150" dirty="0"/>
          </a:p>
        </p:txBody>
      </p:sp>
      <p:sp>
        <p:nvSpPr>
          <p:cNvPr id="37" name="Shape 30"/>
          <p:cNvSpPr/>
          <p:nvPr/>
        </p:nvSpPr>
        <p:spPr>
          <a:xfrm>
            <a:off x="9464040" y="5358384"/>
            <a:ext cx="1234440" cy="402336"/>
          </a:xfrm>
          <a:prstGeom prst="roundRect">
            <a:avLst>
              <a:gd name="adj" fmla="val 18182"/>
            </a:avLst>
          </a:prstGeom>
          <a:solidFill>
            <a:srgbClr val="C0392B"/>
          </a:solidFill>
          <a:ln/>
        </p:spPr>
      </p:sp>
      <p:sp>
        <p:nvSpPr>
          <p:cNvPr id="38" name="Text 31"/>
          <p:cNvSpPr/>
          <p:nvPr/>
        </p:nvSpPr>
        <p:spPr>
          <a:xfrm>
            <a:off x="9464040" y="5358384"/>
            <a:ext cx="1234440"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Bloqueante</a:t>
            </a:r>
            <a:endParaRPr lang="en-US" sz="1050" dirty="0"/>
          </a:p>
        </p:txBody>
      </p:sp>
      <p:sp>
        <p:nvSpPr>
          <p:cNvPr id="39" name="Text 32"/>
          <p:cNvSpPr/>
          <p:nvPr/>
        </p:nvSpPr>
        <p:spPr>
          <a:xfrm>
            <a:off x="457200" y="6492240"/>
            <a:ext cx="5486400" cy="274320"/>
          </a:xfrm>
          <a:prstGeom prst="rect">
            <a:avLst/>
          </a:prstGeom>
          <a:noFill/>
          <a:ln/>
        </p:spPr>
        <p:txBody>
          <a:bodyPr wrap="square" rtlCol="0" anchor="ctr"/>
          <a:lstStyle/>
          <a:p>
            <a:pPr algn="l" indent="0" marL="0">
              <a:buNone/>
            </a:pPr>
            <a:r>
              <a:rPr lang="en-US" sz="1000" dirty="0">
                <a:solidFill>
                  <a:srgbClr val="AEB8C4"/>
                </a:solidFill>
                <a:latin typeface="Calibri" pitchFamily="34" charset="0"/>
                <a:ea typeface="Calibri" pitchFamily="34" charset="-122"/>
                <a:cs typeface="Calibri" pitchFamily="34" charset="-120"/>
              </a:rPr>
              <a:t>SENA — Gestión de Horarios</a:t>
            </a:r>
            <a:endParaRPr lang="en-US" sz="1000" dirty="0"/>
          </a:p>
        </p:txBody>
      </p:sp>
      <p:sp>
        <p:nvSpPr>
          <p:cNvPr id="40" name="Text 33"/>
          <p:cNvSpPr/>
          <p:nvPr/>
        </p:nvSpPr>
        <p:spPr>
          <a:xfrm>
            <a:off x="11274552" y="6492240"/>
            <a:ext cx="457200" cy="274320"/>
          </a:xfrm>
          <a:prstGeom prst="rect">
            <a:avLst/>
          </a:prstGeom>
          <a:noFill/>
          <a:ln/>
        </p:spPr>
        <p:txBody>
          <a:bodyPr wrap="square" rtlCol="0" anchor="ctr"/>
          <a:lstStyle/>
          <a:p>
            <a:pPr algn="r" indent="0" marL="0">
              <a:buNone/>
            </a:pPr>
            <a:r>
              <a:rPr lang="en-US" sz="1000" dirty="0">
                <a:solidFill>
                  <a:srgbClr val="AEB8C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5"/>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400" b="1" spc="200" kern="0" dirty="0">
                <a:solidFill>
                  <a:srgbClr val="39A900"/>
                </a:solidFill>
                <a:latin typeface="Calibri" pitchFamily="34" charset="0"/>
                <a:ea typeface="Calibri" pitchFamily="34" charset="-122"/>
                <a:cs typeface="Calibri" pitchFamily="34" charset="-120"/>
              </a:rPr>
              <a:t>OPERACIÓN DOCENTE</a:t>
            </a:r>
            <a:endParaRPr lang="en-US" sz="14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Herramientas fáciles para el profesor</a:t>
            </a:r>
            <a:endParaRPr lang="en-US" sz="3200" dirty="0"/>
          </a:p>
        </p:txBody>
      </p:sp>
      <p:sp>
        <p:nvSpPr>
          <p:cNvPr id="4" name="Shape 2"/>
          <p:cNvSpPr/>
          <p:nvPr/>
        </p:nvSpPr>
        <p:spPr>
          <a:xfrm>
            <a:off x="548640" y="1874520"/>
            <a:ext cx="3337560" cy="3749040"/>
          </a:xfrm>
          <a:prstGeom prst="roundRect">
            <a:avLst>
              <a:gd name="adj" fmla="val 3288"/>
            </a:avLst>
          </a:prstGeom>
          <a:solidFill>
            <a:srgbClr val="FFFFFF"/>
          </a:solidFill>
          <a:ln/>
          <a:effectLst>
            <a:outerShdw sx="100000" sy="100000" kx="0" ky="0" algn="bl" rotWithShape="0" blurRad="101600" dist="38100" dir="5400000">
              <a:srgbClr val="000000">
                <a:alpha val="15000"/>
              </a:srgbClr>
            </a:outerShdw>
          </a:effectLst>
        </p:spPr>
      </p:sp>
      <p:sp>
        <p:nvSpPr>
          <p:cNvPr id="5" name="Shape 3"/>
          <p:cNvSpPr/>
          <p:nvPr/>
        </p:nvSpPr>
        <p:spPr>
          <a:xfrm>
            <a:off x="1783080" y="2286000"/>
            <a:ext cx="868680" cy="868680"/>
          </a:xfrm>
          <a:prstGeom prst="ellipse">
            <a:avLst/>
          </a:prstGeom>
          <a:solidFill>
            <a:srgbClr val="1B2A4A"/>
          </a:solidFill>
          <a:ln/>
        </p:spPr>
      </p:sp>
      <p:pic>
        <p:nvPicPr>
          <p:cNvPr id="6" name="Image 0" descr="icons/calweek.png">    </p:cNvPr>
          <p:cNvPicPr>
            <a:picLocks noChangeAspect="1"/>
          </p:cNvPicPr>
          <p:nvPr/>
        </p:nvPicPr>
        <p:blipFill>
          <a:blip r:embed="rId1"/>
          <a:stretch>
            <a:fillRect/>
          </a:stretch>
        </p:blipFill>
        <p:spPr>
          <a:xfrm>
            <a:off x="1991563" y="2494483"/>
            <a:ext cx="451714" cy="451714"/>
          </a:xfrm>
          <a:prstGeom prst="rect">
            <a:avLst/>
          </a:prstGeom>
        </p:spPr>
      </p:pic>
      <p:sp>
        <p:nvSpPr>
          <p:cNvPr id="7" name="Text 4"/>
          <p:cNvSpPr/>
          <p:nvPr/>
        </p:nvSpPr>
        <p:spPr>
          <a:xfrm>
            <a:off x="777240" y="3383280"/>
            <a:ext cx="2880360" cy="548640"/>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Calendario semanal</a:t>
            </a:r>
            <a:endParaRPr lang="en-US" sz="1700" dirty="0"/>
          </a:p>
        </p:txBody>
      </p:sp>
      <p:sp>
        <p:nvSpPr>
          <p:cNvPr id="8" name="Text 5"/>
          <p:cNvSpPr/>
          <p:nvPr/>
        </p:nvSpPr>
        <p:spPr>
          <a:xfrm>
            <a:off x="822960" y="3977640"/>
            <a:ext cx="2788920" cy="1371600"/>
          </a:xfrm>
          <a:prstGeom prst="rect">
            <a:avLst/>
          </a:prstGeom>
          <a:noFill/>
          <a:ln/>
        </p:spPr>
        <p:txBody>
          <a:bodyPr wrap="square" lIns="0" tIns="0" rIns="0" bIns="0" rtlCol="0" anchor="ctr"/>
          <a:lstStyle/>
          <a:p>
            <a:pPr algn="ctr" indent="0" marL="0">
              <a:buNone/>
            </a:pPr>
            <a:r>
              <a:rPr lang="en-US" sz="1300" dirty="0">
                <a:solidFill>
                  <a:srgbClr val="1E1E1E"/>
                </a:solidFill>
                <a:latin typeface="Calibri" pitchFamily="34" charset="0"/>
                <a:ea typeface="Calibri" pitchFamily="34" charset="-122"/>
                <a:cs typeface="Calibri" pitchFamily="34" charset="-120"/>
              </a:rPr>
              <a:t>Ve sus compromisos y marca "Clase dictada" en un clic.</a:t>
            </a:r>
            <a:endParaRPr lang="en-US" sz="1300" dirty="0"/>
          </a:p>
        </p:txBody>
      </p:sp>
      <p:sp>
        <p:nvSpPr>
          <p:cNvPr id="9" name="Shape 6"/>
          <p:cNvSpPr/>
          <p:nvPr/>
        </p:nvSpPr>
        <p:spPr>
          <a:xfrm>
            <a:off x="4206240" y="1874520"/>
            <a:ext cx="3337560" cy="3749040"/>
          </a:xfrm>
          <a:prstGeom prst="roundRect">
            <a:avLst>
              <a:gd name="adj" fmla="val 3288"/>
            </a:avLst>
          </a:prstGeom>
          <a:solidFill>
            <a:srgbClr val="FFFFFF"/>
          </a:solidFill>
          <a:ln/>
          <a:effectLst>
            <a:outerShdw sx="100000" sy="100000" kx="0" ky="0" algn="bl" rotWithShape="0" blurRad="101600" dist="38100" dir="5400000">
              <a:srgbClr val="000000">
                <a:alpha val="15000"/>
              </a:srgbClr>
            </a:outerShdw>
          </a:effectLst>
        </p:spPr>
      </p:sp>
      <p:sp>
        <p:nvSpPr>
          <p:cNvPr id="10" name="Shape 7"/>
          <p:cNvSpPr/>
          <p:nvPr/>
        </p:nvSpPr>
        <p:spPr>
          <a:xfrm>
            <a:off x="5440680" y="2286000"/>
            <a:ext cx="868680" cy="868680"/>
          </a:xfrm>
          <a:prstGeom prst="ellipse">
            <a:avLst/>
          </a:prstGeom>
          <a:solidFill>
            <a:srgbClr val="1B2A4A"/>
          </a:solidFill>
          <a:ln/>
        </p:spPr>
      </p:sp>
      <p:pic>
        <p:nvPicPr>
          <p:cNvPr id="11" name="Image 1" descr="icons/hospital.png">    </p:cNvPr>
          <p:cNvPicPr>
            <a:picLocks noChangeAspect="1"/>
          </p:cNvPicPr>
          <p:nvPr/>
        </p:nvPicPr>
        <p:blipFill>
          <a:blip r:embed="rId2"/>
          <a:stretch>
            <a:fillRect/>
          </a:stretch>
        </p:blipFill>
        <p:spPr>
          <a:xfrm>
            <a:off x="5649163" y="2494483"/>
            <a:ext cx="451714" cy="451714"/>
          </a:xfrm>
          <a:prstGeom prst="rect">
            <a:avLst/>
          </a:prstGeom>
        </p:spPr>
      </p:pic>
      <p:sp>
        <p:nvSpPr>
          <p:cNvPr id="12" name="Text 8"/>
          <p:cNvSpPr/>
          <p:nvPr/>
        </p:nvSpPr>
        <p:spPr>
          <a:xfrm>
            <a:off x="4434840" y="3383280"/>
            <a:ext cx="2880360" cy="548640"/>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Permisos e incapacidades</a:t>
            </a:r>
            <a:endParaRPr lang="en-US" sz="1700" dirty="0"/>
          </a:p>
        </p:txBody>
      </p:sp>
      <p:sp>
        <p:nvSpPr>
          <p:cNvPr id="13" name="Text 9"/>
          <p:cNvSpPr/>
          <p:nvPr/>
        </p:nvSpPr>
        <p:spPr>
          <a:xfrm>
            <a:off x="4480560" y="3977640"/>
            <a:ext cx="2788920" cy="1371600"/>
          </a:xfrm>
          <a:prstGeom prst="rect">
            <a:avLst/>
          </a:prstGeom>
          <a:noFill/>
          <a:ln/>
        </p:spPr>
        <p:txBody>
          <a:bodyPr wrap="square" lIns="0" tIns="0" rIns="0" bIns="0" rtlCol="0" anchor="ctr"/>
          <a:lstStyle/>
          <a:p>
            <a:pPr algn="ctr" indent="0" marL="0">
              <a:buNone/>
            </a:pPr>
            <a:r>
              <a:rPr lang="en-US" sz="1300" dirty="0">
                <a:solidFill>
                  <a:srgbClr val="1E1E1E"/>
                </a:solidFill>
                <a:latin typeface="Calibri" pitchFamily="34" charset="0"/>
                <a:ea typeface="Calibri" pitchFamily="34" charset="-122"/>
                <a:cs typeface="Calibri" pitchFamily="34" charset="-120"/>
              </a:rPr>
              <a:t>Sube el certificado médico en PDF y el sistema bloquea sus horas.</a:t>
            </a:r>
            <a:endParaRPr lang="en-US" sz="1300" dirty="0"/>
          </a:p>
        </p:txBody>
      </p:sp>
      <p:sp>
        <p:nvSpPr>
          <p:cNvPr id="14" name="Shape 10"/>
          <p:cNvSpPr/>
          <p:nvPr/>
        </p:nvSpPr>
        <p:spPr>
          <a:xfrm>
            <a:off x="7863840" y="1874520"/>
            <a:ext cx="3337560" cy="3749040"/>
          </a:xfrm>
          <a:prstGeom prst="roundRect">
            <a:avLst>
              <a:gd name="adj" fmla="val 3288"/>
            </a:avLst>
          </a:prstGeom>
          <a:solidFill>
            <a:srgbClr val="FFFFFF"/>
          </a:solidFill>
          <a:ln/>
          <a:effectLst>
            <a:outerShdw sx="100000" sy="100000" kx="0" ky="0" algn="bl" rotWithShape="0" blurRad="101600" dist="38100" dir="5400000">
              <a:srgbClr val="000000">
                <a:alpha val="15000"/>
              </a:srgbClr>
            </a:outerShdw>
          </a:effectLst>
        </p:spPr>
      </p:sp>
      <p:sp>
        <p:nvSpPr>
          <p:cNvPr id="15" name="Shape 11"/>
          <p:cNvSpPr/>
          <p:nvPr/>
        </p:nvSpPr>
        <p:spPr>
          <a:xfrm>
            <a:off x="9098280" y="2286000"/>
            <a:ext cx="868680" cy="868680"/>
          </a:xfrm>
          <a:prstGeom prst="ellipse">
            <a:avLst/>
          </a:prstGeom>
          <a:solidFill>
            <a:srgbClr val="1B2A4A"/>
          </a:solidFill>
          <a:ln/>
        </p:spPr>
      </p:sp>
      <p:pic>
        <p:nvPicPr>
          <p:cNvPr id="16" name="Image 2" descr="icons/chartbar.png">    </p:cNvPr>
          <p:cNvPicPr>
            <a:picLocks noChangeAspect="1"/>
          </p:cNvPicPr>
          <p:nvPr/>
        </p:nvPicPr>
        <p:blipFill>
          <a:blip r:embed="rId3"/>
          <a:stretch>
            <a:fillRect/>
          </a:stretch>
        </p:blipFill>
        <p:spPr>
          <a:xfrm>
            <a:off x="9306763" y="2494483"/>
            <a:ext cx="451714" cy="451714"/>
          </a:xfrm>
          <a:prstGeom prst="rect">
            <a:avLst/>
          </a:prstGeom>
        </p:spPr>
      </p:pic>
      <p:sp>
        <p:nvSpPr>
          <p:cNvPr id="17" name="Text 12"/>
          <p:cNvSpPr/>
          <p:nvPr/>
        </p:nvSpPr>
        <p:spPr>
          <a:xfrm>
            <a:off x="8092440" y="3383280"/>
            <a:ext cx="2880360" cy="548640"/>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Pasar asistencia</a:t>
            </a:r>
            <a:endParaRPr lang="en-US" sz="1700" dirty="0"/>
          </a:p>
        </p:txBody>
      </p:sp>
      <p:sp>
        <p:nvSpPr>
          <p:cNvPr id="18" name="Text 13"/>
          <p:cNvSpPr/>
          <p:nvPr/>
        </p:nvSpPr>
        <p:spPr>
          <a:xfrm>
            <a:off x="8138160" y="3977640"/>
            <a:ext cx="2788920" cy="1371600"/>
          </a:xfrm>
          <a:prstGeom prst="rect">
            <a:avLst/>
          </a:prstGeom>
          <a:noFill/>
          <a:ln/>
        </p:spPr>
        <p:txBody>
          <a:bodyPr wrap="square" lIns="0" tIns="0" rIns="0" bIns="0" rtlCol="0" anchor="ctr"/>
          <a:lstStyle/>
          <a:p>
            <a:pPr algn="ctr" indent="0" marL="0">
              <a:buNone/>
            </a:pPr>
            <a:r>
              <a:rPr lang="en-US" sz="1300" dirty="0">
                <a:solidFill>
                  <a:srgbClr val="1E1E1E"/>
                </a:solidFill>
                <a:latin typeface="Calibri" pitchFamily="34" charset="0"/>
                <a:ea typeface="Calibri" pitchFamily="34" charset="-122"/>
                <a:cs typeface="Calibri" pitchFamily="34" charset="-120"/>
              </a:rPr>
              <a:t>Anota los aprendices que asistieron y alerta si hay inasistencias altas.</a:t>
            </a:r>
            <a:endParaRPr lang="en-US" sz="1300" dirty="0"/>
          </a:p>
        </p:txBody>
      </p:sp>
      <p:sp>
        <p:nvSpPr>
          <p:cNvPr id="19" name="Text 14"/>
          <p:cNvSpPr/>
          <p:nvPr/>
        </p:nvSpPr>
        <p:spPr>
          <a:xfrm>
            <a:off x="457200" y="6492240"/>
            <a:ext cx="5486400" cy="274320"/>
          </a:xfrm>
          <a:prstGeom prst="rect">
            <a:avLst/>
          </a:prstGeom>
          <a:noFill/>
          <a:ln/>
        </p:spPr>
        <p:txBody>
          <a:bodyPr wrap="square" rtlCol="0" anchor="ctr"/>
          <a:lstStyle/>
          <a:p>
            <a:pPr algn="l" indent="0" marL="0">
              <a:buNone/>
            </a:pPr>
            <a:r>
              <a:rPr lang="en-US" sz="1000" dirty="0">
                <a:solidFill>
                  <a:srgbClr val="5B6570"/>
                </a:solidFill>
                <a:latin typeface="Calibri" pitchFamily="34" charset="0"/>
                <a:ea typeface="Calibri" pitchFamily="34" charset="-122"/>
                <a:cs typeface="Calibri" pitchFamily="34" charset="-120"/>
              </a:rPr>
              <a:t>SENA — Gestión de Horarios</a:t>
            </a:r>
            <a:endParaRPr lang="en-US" sz="1000" dirty="0"/>
          </a:p>
        </p:txBody>
      </p:sp>
      <p:sp>
        <p:nvSpPr>
          <p:cNvPr id="20" name="Text 15"/>
          <p:cNvSpPr/>
          <p:nvPr/>
        </p:nvSpPr>
        <p:spPr>
          <a:xfrm>
            <a:off x="11274552" y="6492240"/>
            <a:ext cx="457200" cy="274320"/>
          </a:xfrm>
          <a:prstGeom prst="rect">
            <a:avLst/>
          </a:prstGeom>
          <a:noFill/>
          <a:ln/>
        </p:spPr>
        <p:txBody>
          <a:bodyPr wrap="square"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400" b="1" spc="200" kern="0" dirty="0">
                <a:solidFill>
                  <a:srgbClr val="39A900"/>
                </a:solidFill>
                <a:latin typeface="Calibri" pitchFamily="34" charset="0"/>
                <a:ea typeface="Calibri" pitchFamily="34" charset="-122"/>
                <a:cs typeface="Calibri" pitchFamily="34" charset="-120"/>
              </a:rPr>
              <a:t>EXPERIENCIA DEL ESTUDIANTE</a:t>
            </a:r>
            <a:endParaRPr lang="en-US" sz="14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Todo lo que el aprendiz necesita en su celular</a:t>
            </a:r>
            <a:endParaRPr lang="en-US" sz="3200" dirty="0"/>
          </a:p>
        </p:txBody>
      </p:sp>
      <p:sp>
        <p:nvSpPr>
          <p:cNvPr id="4" name="Shape 2"/>
          <p:cNvSpPr/>
          <p:nvPr/>
        </p:nvSpPr>
        <p:spPr>
          <a:xfrm>
            <a:off x="548640" y="1965960"/>
            <a:ext cx="3337560" cy="3657600"/>
          </a:xfrm>
          <a:prstGeom prst="roundRect">
            <a:avLst>
              <a:gd name="adj" fmla="val 3288"/>
            </a:avLst>
          </a:prstGeom>
          <a:solidFill>
            <a:srgbClr val="13203A"/>
          </a:solidFill>
          <a:ln/>
        </p:spPr>
      </p:sp>
      <p:sp>
        <p:nvSpPr>
          <p:cNvPr id="5" name="Shape 3"/>
          <p:cNvSpPr/>
          <p:nvPr/>
        </p:nvSpPr>
        <p:spPr>
          <a:xfrm>
            <a:off x="1805940" y="2377440"/>
            <a:ext cx="822960" cy="822960"/>
          </a:xfrm>
          <a:prstGeom prst="ellipse">
            <a:avLst/>
          </a:prstGeom>
          <a:solidFill>
            <a:srgbClr val="39A900"/>
          </a:solidFill>
          <a:ln/>
        </p:spPr>
      </p:sp>
      <p:pic>
        <p:nvPicPr>
          <p:cNvPr id="6" name="Image 0" descr="icons/mobile.png">    </p:cNvPr>
          <p:cNvPicPr>
            <a:picLocks noChangeAspect="1"/>
          </p:cNvPicPr>
          <p:nvPr/>
        </p:nvPicPr>
        <p:blipFill>
          <a:blip r:embed="rId1"/>
          <a:stretch>
            <a:fillRect/>
          </a:stretch>
        </p:blipFill>
        <p:spPr>
          <a:xfrm>
            <a:off x="2003450" y="2574950"/>
            <a:ext cx="427939" cy="427939"/>
          </a:xfrm>
          <a:prstGeom prst="rect">
            <a:avLst/>
          </a:prstGeom>
        </p:spPr>
      </p:pic>
      <p:sp>
        <p:nvSpPr>
          <p:cNvPr id="7" name="Text 4"/>
          <p:cNvSpPr/>
          <p:nvPr/>
        </p:nvSpPr>
        <p:spPr>
          <a:xfrm>
            <a:off x="777240" y="3429000"/>
            <a:ext cx="28803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Horario exclusivo</a:t>
            </a:r>
            <a:endParaRPr lang="en-US" sz="1700" dirty="0"/>
          </a:p>
        </p:txBody>
      </p:sp>
      <p:sp>
        <p:nvSpPr>
          <p:cNvPr id="8" name="Text 5"/>
          <p:cNvSpPr/>
          <p:nvPr/>
        </p:nvSpPr>
        <p:spPr>
          <a:xfrm>
            <a:off x="822960" y="4023360"/>
            <a:ext cx="2788920" cy="1280160"/>
          </a:xfrm>
          <a:prstGeom prst="rect">
            <a:avLst/>
          </a:prstGeom>
          <a:noFill/>
          <a:ln/>
        </p:spPr>
        <p:txBody>
          <a:bodyPr wrap="square" lIns="0" tIns="0" rIns="0" bIns="0" rtlCol="0" anchor="ctr"/>
          <a:lstStyle/>
          <a:p>
            <a:pPr algn="ctr" indent="0" marL="0">
              <a:buNone/>
            </a:pPr>
            <a:r>
              <a:rPr lang="en-US" sz="1300" dirty="0">
                <a:solidFill>
                  <a:srgbClr val="CBD5DE"/>
                </a:solidFill>
                <a:latin typeface="Calibri" pitchFamily="34" charset="0"/>
                <a:ea typeface="Calibri" pitchFamily="34" charset="-122"/>
                <a:cs typeface="Calibri" pitchFamily="34" charset="-120"/>
              </a:rPr>
              <a:t>Solo ve su propio grupo, sin confundirse con otros cursos.</a:t>
            </a:r>
            <a:endParaRPr lang="en-US" sz="1300" dirty="0"/>
          </a:p>
        </p:txBody>
      </p:sp>
      <p:sp>
        <p:nvSpPr>
          <p:cNvPr id="9" name="Shape 6"/>
          <p:cNvSpPr/>
          <p:nvPr/>
        </p:nvSpPr>
        <p:spPr>
          <a:xfrm>
            <a:off x="4206240" y="1965960"/>
            <a:ext cx="3337560" cy="3657600"/>
          </a:xfrm>
          <a:prstGeom prst="roundRect">
            <a:avLst>
              <a:gd name="adj" fmla="val 3288"/>
            </a:avLst>
          </a:prstGeom>
          <a:solidFill>
            <a:srgbClr val="13203A"/>
          </a:solidFill>
          <a:ln/>
        </p:spPr>
      </p:sp>
      <p:sp>
        <p:nvSpPr>
          <p:cNvPr id="10" name="Shape 7"/>
          <p:cNvSpPr/>
          <p:nvPr/>
        </p:nvSpPr>
        <p:spPr>
          <a:xfrm>
            <a:off x="5463540" y="2377440"/>
            <a:ext cx="822960" cy="822960"/>
          </a:xfrm>
          <a:prstGeom prst="ellipse">
            <a:avLst/>
          </a:prstGeom>
          <a:solidFill>
            <a:srgbClr val="39A900"/>
          </a:solidFill>
          <a:ln/>
        </p:spPr>
      </p:sp>
      <p:pic>
        <p:nvPicPr>
          <p:cNvPr id="11" name="Image 1" descr="icons/mapmarker.png">    </p:cNvPr>
          <p:cNvPicPr>
            <a:picLocks noChangeAspect="1"/>
          </p:cNvPicPr>
          <p:nvPr/>
        </p:nvPicPr>
        <p:blipFill>
          <a:blip r:embed="rId2"/>
          <a:stretch>
            <a:fillRect/>
          </a:stretch>
        </p:blipFill>
        <p:spPr>
          <a:xfrm>
            <a:off x="5661050" y="2574950"/>
            <a:ext cx="427939" cy="427939"/>
          </a:xfrm>
          <a:prstGeom prst="rect">
            <a:avLst/>
          </a:prstGeom>
        </p:spPr>
      </p:pic>
      <p:sp>
        <p:nvSpPr>
          <p:cNvPr id="12" name="Text 8"/>
          <p:cNvSpPr/>
          <p:nvPr/>
        </p:nvSpPr>
        <p:spPr>
          <a:xfrm>
            <a:off x="4434840" y="3429000"/>
            <a:ext cx="28803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Detalle de la clase</a:t>
            </a:r>
            <a:endParaRPr lang="en-US" sz="1700" dirty="0"/>
          </a:p>
        </p:txBody>
      </p:sp>
      <p:sp>
        <p:nvSpPr>
          <p:cNvPr id="13" name="Text 9"/>
          <p:cNvSpPr/>
          <p:nvPr/>
        </p:nvSpPr>
        <p:spPr>
          <a:xfrm>
            <a:off x="4480560" y="4023360"/>
            <a:ext cx="2788920" cy="1280160"/>
          </a:xfrm>
          <a:prstGeom prst="rect">
            <a:avLst/>
          </a:prstGeom>
          <a:noFill/>
          <a:ln/>
        </p:spPr>
        <p:txBody>
          <a:bodyPr wrap="square" lIns="0" tIns="0" rIns="0" bIns="0" rtlCol="0" anchor="ctr"/>
          <a:lstStyle/>
          <a:p>
            <a:pPr algn="ctr" indent="0" marL="0">
              <a:buNone/>
            </a:pPr>
            <a:r>
              <a:rPr lang="en-US" sz="1300" dirty="0">
                <a:solidFill>
                  <a:srgbClr val="CBD5DE"/>
                </a:solidFill>
                <a:latin typeface="Calibri" pitchFamily="34" charset="0"/>
                <a:ea typeface="Calibri" pitchFamily="34" charset="-122"/>
                <a:cs typeface="Calibri" pitchFamily="34" charset="-120"/>
              </a:rPr>
              <a:t>Sabe el nombre del docente, el bloque, el piso y el aula exacta.</a:t>
            </a:r>
            <a:endParaRPr lang="en-US" sz="1300" dirty="0"/>
          </a:p>
        </p:txBody>
      </p:sp>
      <p:sp>
        <p:nvSpPr>
          <p:cNvPr id="14" name="Shape 10"/>
          <p:cNvSpPr/>
          <p:nvPr/>
        </p:nvSpPr>
        <p:spPr>
          <a:xfrm>
            <a:off x="7863840" y="1965960"/>
            <a:ext cx="3337560" cy="3657600"/>
          </a:xfrm>
          <a:prstGeom prst="roundRect">
            <a:avLst>
              <a:gd name="adj" fmla="val 3288"/>
            </a:avLst>
          </a:prstGeom>
          <a:solidFill>
            <a:srgbClr val="13203A"/>
          </a:solidFill>
          <a:ln/>
        </p:spPr>
      </p:sp>
      <p:sp>
        <p:nvSpPr>
          <p:cNvPr id="15" name="Shape 11"/>
          <p:cNvSpPr/>
          <p:nvPr/>
        </p:nvSpPr>
        <p:spPr>
          <a:xfrm>
            <a:off x="9121140" y="2377440"/>
            <a:ext cx="822960" cy="822960"/>
          </a:xfrm>
          <a:prstGeom prst="ellipse">
            <a:avLst/>
          </a:prstGeom>
          <a:solidFill>
            <a:srgbClr val="39A900"/>
          </a:solidFill>
          <a:ln/>
        </p:spPr>
      </p:sp>
      <p:pic>
        <p:nvPicPr>
          <p:cNvPr id="16" name="Image 2" descr="icons/bell.png">    </p:cNvPr>
          <p:cNvPicPr>
            <a:picLocks noChangeAspect="1"/>
          </p:cNvPicPr>
          <p:nvPr/>
        </p:nvPicPr>
        <p:blipFill>
          <a:blip r:embed="rId3"/>
          <a:stretch>
            <a:fillRect/>
          </a:stretch>
        </p:blipFill>
        <p:spPr>
          <a:xfrm>
            <a:off x="9318650" y="2574950"/>
            <a:ext cx="427939" cy="427939"/>
          </a:xfrm>
          <a:prstGeom prst="rect">
            <a:avLst/>
          </a:prstGeom>
        </p:spPr>
      </p:pic>
      <p:sp>
        <p:nvSpPr>
          <p:cNvPr id="17" name="Text 12"/>
          <p:cNvSpPr/>
          <p:nvPr/>
        </p:nvSpPr>
        <p:spPr>
          <a:xfrm>
            <a:off x="8092440" y="3429000"/>
            <a:ext cx="28803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Buzón de avisos</a:t>
            </a:r>
            <a:endParaRPr lang="en-US" sz="1700" dirty="0"/>
          </a:p>
        </p:txBody>
      </p:sp>
      <p:sp>
        <p:nvSpPr>
          <p:cNvPr id="18" name="Text 13"/>
          <p:cNvSpPr/>
          <p:nvPr/>
        </p:nvSpPr>
        <p:spPr>
          <a:xfrm>
            <a:off x="8138160" y="4023360"/>
            <a:ext cx="2788920" cy="1280160"/>
          </a:xfrm>
          <a:prstGeom prst="rect">
            <a:avLst/>
          </a:prstGeom>
          <a:noFill/>
          <a:ln/>
        </p:spPr>
        <p:txBody>
          <a:bodyPr wrap="square" lIns="0" tIns="0" rIns="0" bIns="0" rtlCol="0" anchor="ctr"/>
          <a:lstStyle/>
          <a:p>
            <a:pPr algn="ctr" indent="0" marL="0">
              <a:buNone/>
            </a:pPr>
            <a:r>
              <a:rPr lang="en-US" sz="1300" dirty="0">
                <a:solidFill>
                  <a:srgbClr val="CBD5DE"/>
                </a:solidFill>
                <a:latin typeface="Calibri" pitchFamily="34" charset="0"/>
                <a:ea typeface="Calibri" pitchFamily="34" charset="-122"/>
                <a:cs typeface="Calibri" pitchFamily="34" charset="-120"/>
              </a:rPr>
              <a:t>Notificaciones al instante si hay reprogramación o cambio de salón.</a:t>
            </a:r>
            <a:endParaRPr lang="en-US" sz="1300" dirty="0"/>
          </a:p>
        </p:txBody>
      </p:sp>
      <p:sp>
        <p:nvSpPr>
          <p:cNvPr id="19" name="Text 14"/>
          <p:cNvSpPr/>
          <p:nvPr/>
        </p:nvSpPr>
        <p:spPr>
          <a:xfrm>
            <a:off x="457200" y="6492240"/>
            <a:ext cx="5486400" cy="274320"/>
          </a:xfrm>
          <a:prstGeom prst="rect">
            <a:avLst/>
          </a:prstGeom>
          <a:noFill/>
          <a:ln/>
        </p:spPr>
        <p:txBody>
          <a:bodyPr wrap="square" rtlCol="0" anchor="ctr"/>
          <a:lstStyle/>
          <a:p>
            <a:pPr algn="l" indent="0" marL="0">
              <a:buNone/>
            </a:pPr>
            <a:r>
              <a:rPr lang="en-US" sz="1000" dirty="0">
                <a:solidFill>
                  <a:srgbClr val="AEB8C4"/>
                </a:solidFill>
                <a:latin typeface="Calibri" pitchFamily="34" charset="0"/>
                <a:ea typeface="Calibri" pitchFamily="34" charset="-122"/>
                <a:cs typeface="Calibri" pitchFamily="34" charset="-120"/>
              </a:rPr>
              <a:t>SENA — Gestión de Horarios</a:t>
            </a:r>
            <a:endParaRPr lang="en-US" sz="1000" dirty="0"/>
          </a:p>
        </p:txBody>
      </p:sp>
      <p:sp>
        <p:nvSpPr>
          <p:cNvPr id="20" name="Text 15"/>
          <p:cNvSpPr/>
          <p:nvPr/>
        </p:nvSpPr>
        <p:spPr>
          <a:xfrm>
            <a:off x="11274552" y="6492240"/>
            <a:ext cx="457200" cy="274320"/>
          </a:xfrm>
          <a:prstGeom prst="rect">
            <a:avLst/>
          </a:prstGeom>
          <a:noFill/>
          <a:ln/>
        </p:spPr>
        <p:txBody>
          <a:bodyPr wrap="square" rtlCol="0" anchor="ctr"/>
          <a:lstStyle/>
          <a:p>
            <a:pPr algn="r" indent="0" marL="0">
              <a:buNone/>
            </a:pPr>
            <a:r>
              <a:rPr lang="en-US" sz="1000" dirty="0">
                <a:solidFill>
                  <a:srgbClr val="AEB8C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5"/>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400" b="1" spc="200" kern="0" dirty="0">
                <a:solidFill>
                  <a:srgbClr val="39A900"/>
                </a:solidFill>
                <a:latin typeface="Calibri" pitchFamily="34" charset="0"/>
                <a:ea typeface="Calibri" pitchFamily="34" charset="-122"/>
                <a:cs typeface="Calibri" pitchFamily="34" charset="-120"/>
              </a:rPr>
              <a:t>GESTIÓN ESTRATÉGICA</a:t>
            </a:r>
            <a:endParaRPr lang="en-US" sz="14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Semáforos de calidad y prevención de deserción</a:t>
            </a:r>
            <a:endParaRPr lang="en-US" sz="3200" dirty="0"/>
          </a:p>
        </p:txBody>
      </p:sp>
      <p:sp>
        <p:nvSpPr>
          <p:cNvPr id="4" name="Shape 2"/>
          <p:cNvSpPr/>
          <p:nvPr/>
        </p:nvSpPr>
        <p:spPr>
          <a:xfrm>
            <a:off x="548640" y="1874520"/>
            <a:ext cx="3337560" cy="3749040"/>
          </a:xfrm>
          <a:prstGeom prst="roundRect">
            <a:avLst>
              <a:gd name="adj" fmla="val 3288"/>
            </a:avLst>
          </a:prstGeom>
          <a:solidFill>
            <a:srgbClr val="FFFFFF"/>
          </a:solidFill>
          <a:ln/>
          <a:effectLst>
            <a:outerShdw sx="100000" sy="100000" kx="0" ky="0" algn="bl" rotWithShape="0" blurRad="101600" dist="38100" dir="5400000">
              <a:srgbClr val="000000">
                <a:alpha val="15000"/>
              </a:srgbClr>
            </a:outerShdw>
          </a:effectLst>
        </p:spPr>
      </p:sp>
      <p:sp>
        <p:nvSpPr>
          <p:cNvPr id="5" name="Shape 3"/>
          <p:cNvSpPr/>
          <p:nvPr/>
        </p:nvSpPr>
        <p:spPr>
          <a:xfrm>
            <a:off x="1783080" y="2286000"/>
            <a:ext cx="868680" cy="868680"/>
          </a:xfrm>
          <a:prstGeom prst="ellipse">
            <a:avLst/>
          </a:prstGeom>
          <a:solidFill>
            <a:srgbClr val="1B2A4A"/>
          </a:solidFill>
          <a:ln/>
        </p:spPr>
      </p:sp>
      <p:pic>
        <p:nvPicPr>
          <p:cNvPr id="6" name="Image 0" descr="icons/trafficlight.png">    </p:cNvPr>
          <p:cNvPicPr>
            <a:picLocks noChangeAspect="1"/>
          </p:cNvPicPr>
          <p:nvPr/>
        </p:nvPicPr>
        <p:blipFill>
          <a:blip r:embed="rId1"/>
          <a:stretch>
            <a:fillRect/>
          </a:stretch>
        </p:blipFill>
        <p:spPr>
          <a:xfrm>
            <a:off x="1991563" y="2494483"/>
            <a:ext cx="451714" cy="451714"/>
          </a:xfrm>
          <a:prstGeom prst="rect">
            <a:avLst/>
          </a:prstGeom>
        </p:spPr>
      </p:pic>
      <p:sp>
        <p:nvSpPr>
          <p:cNvPr id="7" name="Text 4"/>
          <p:cNvSpPr/>
          <p:nvPr/>
        </p:nvSpPr>
        <p:spPr>
          <a:xfrm>
            <a:off x="777240" y="3383280"/>
            <a:ext cx="2880360" cy="548640"/>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Semáforos de riesgo</a:t>
            </a:r>
            <a:endParaRPr lang="en-US" sz="1700" dirty="0"/>
          </a:p>
        </p:txBody>
      </p:sp>
      <p:sp>
        <p:nvSpPr>
          <p:cNvPr id="8" name="Text 5"/>
          <p:cNvSpPr/>
          <p:nvPr/>
        </p:nvSpPr>
        <p:spPr>
          <a:xfrm>
            <a:off x="822960" y="3977640"/>
            <a:ext cx="2788920" cy="1371600"/>
          </a:xfrm>
          <a:prstGeom prst="rect">
            <a:avLst/>
          </a:prstGeom>
          <a:noFill/>
          <a:ln/>
        </p:spPr>
        <p:txBody>
          <a:bodyPr wrap="square" lIns="0" tIns="0" rIns="0" bIns="0" rtlCol="0" anchor="ctr"/>
          <a:lstStyle/>
          <a:p>
            <a:pPr algn="ctr" indent="0" marL="0">
              <a:buNone/>
            </a:pPr>
            <a:r>
              <a:rPr lang="en-US" sz="1300" dirty="0">
                <a:solidFill>
                  <a:srgbClr val="1E1E1E"/>
                </a:solidFill>
                <a:latin typeface="Calibri" pitchFamily="34" charset="0"/>
                <a:ea typeface="Calibri" pitchFamily="34" charset="-122"/>
                <a:cs typeface="Calibri" pitchFamily="34" charset="-120"/>
              </a:rPr>
              <a:t>Verde (normal), amarillo (en riesgo) y rojo (crítico).</a:t>
            </a:r>
            <a:endParaRPr lang="en-US" sz="1300" dirty="0"/>
          </a:p>
        </p:txBody>
      </p:sp>
      <p:sp>
        <p:nvSpPr>
          <p:cNvPr id="9" name="Shape 6"/>
          <p:cNvSpPr/>
          <p:nvPr/>
        </p:nvSpPr>
        <p:spPr>
          <a:xfrm>
            <a:off x="4206240" y="1874520"/>
            <a:ext cx="3337560" cy="3749040"/>
          </a:xfrm>
          <a:prstGeom prst="roundRect">
            <a:avLst>
              <a:gd name="adj" fmla="val 3288"/>
            </a:avLst>
          </a:prstGeom>
          <a:solidFill>
            <a:srgbClr val="FFFFFF"/>
          </a:solidFill>
          <a:ln/>
          <a:effectLst>
            <a:outerShdw sx="100000" sy="100000" kx="0" ky="0" algn="bl" rotWithShape="0" blurRad="101600" dist="38100" dir="5400000">
              <a:srgbClr val="000000">
                <a:alpha val="15000"/>
              </a:srgbClr>
            </a:outerShdw>
          </a:effectLst>
        </p:spPr>
      </p:sp>
      <p:sp>
        <p:nvSpPr>
          <p:cNvPr id="10" name="Shape 7"/>
          <p:cNvSpPr/>
          <p:nvPr/>
        </p:nvSpPr>
        <p:spPr>
          <a:xfrm>
            <a:off x="5440680" y="2286000"/>
            <a:ext cx="868680" cy="868680"/>
          </a:xfrm>
          <a:prstGeom prst="ellipse">
            <a:avLst/>
          </a:prstGeom>
          <a:solidFill>
            <a:srgbClr val="1B2A4A"/>
          </a:solidFill>
          <a:ln/>
        </p:spPr>
      </p:sp>
      <p:pic>
        <p:nvPicPr>
          <p:cNvPr id="11" name="Image 1" descr="icons/chartline.png">    </p:cNvPr>
          <p:cNvPicPr>
            <a:picLocks noChangeAspect="1"/>
          </p:cNvPicPr>
          <p:nvPr/>
        </p:nvPicPr>
        <p:blipFill>
          <a:blip r:embed="rId2"/>
          <a:stretch>
            <a:fillRect/>
          </a:stretch>
        </p:blipFill>
        <p:spPr>
          <a:xfrm>
            <a:off x="5649163" y="2494483"/>
            <a:ext cx="451714" cy="451714"/>
          </a:xfrm>
          <a:prstGeom prst="rect">
            <a:avLst/>
          </a:prstGeom>
        </p:spPr>
      </p:pic>
      <p:sp>
        <p:nvSpPr>
          <p:cNvPr id="12" name="Text 8"/>
          <p:cNvSpPr/>
          <p:nvPr/>
        </p:nvSpPr>
        <p:spPr>
          <a:xfrm>
            <a:off x="4434840" y="3383280"/>
            <a:ext cx="2880360" cy="548640"/>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Evolución histórica</a:t>
            </a:r>
            <a:endParaRPr lang="en-US" sz="1700" dirty="0"/>
          </a:p>
        </p:txBody>
      </p:sp>
      <p:sp>
        <p:nvSpPr>
          <p:cNvPr id="13" name="Text 9"/>
          <p:cNvSpPr/>
          <p:nvPr/>
        </p:nvSpPr>
        <p:spPr>
          <a:xfrm>
            <a:off x="4480560" y="3977640"/>
            <a:ext cx="2788920" cy="1371600"/>
          </a:xfrm>
          <a:prstGeom prst="rect">
            <a:avLst/>
          </a:prstGeom>
          <a:noFill/>
          <a:ln/>
        </p:spPr>
        <p:txBody>
          <a:bodyPr wrap="square" lIns="0" tIns="0" rIns="0" bIns="0" rtlCol="0" anchor="ctr"/>
          <a:lstStyle/>
          <a:p>
            <a:pPr algn="ctr" indent="0" marL="0">
              <a:buNone/>
            </a:pPr>
            <a:r>
              <a:rPr lang="en-US" sz="1300" dirty="0">
                <a:solidFill>
                  <a:srgbClr val="1E1E1E"/>
                </a:solidFill>
                <a:latin typeface="Calibri" pitchFamily="34" charset="0"/>
                <a:ea typeface="Calibri" pitchFamily="34" charset="-122"/>
                <a:cs typeface="Calibri" pitchFamily="34" charset="-120"/>
              </a:rPr>
              <a:t>Gráficas de asistencia mes a mes para ver tendencias.</a:t>
            </a:r>
            <a:endParaRPr lang="en-US" sz="1300" dirty="0"/>
          </a:p>
        </p:txBody>
      </p:sp>
      <p:sp>
        <p:nvSpPr>
          <p:cNvPr id="14" name="Shape 10"/>
          <p:cNvSpPr/>
          <p:nvPr/>
        </p:nvSpPr>
        <p:spPr>
          <a:xfrm>
            <a:off x="7863840" y="1874520"/>
            <a:ext cx="3337560" cy="3749040"/>
          </a:xfrm>
          <a:prstGeom prst="roundRect">
            <a:avLst>
              <a:gd name="adj" fmla="val 3288"/>
            </a:avLst>
          </a:prstGeom>
          <a:solidFill>
            <a:srgbClr val="FFFFFF"/>
          </a:solidFill>
          <a:ln/>
          <a:effectLst>
            <a:outerShdw sx="100000" sy="100000" kx="0" ky="0" algn="bl" rotWithShape="0" blurRad="101600" dist="38100" dir="5400000">
              <a:srgbClr val="000000">
                <a:alpha val="15000"/>
              </a:srgbClr>
            </a:outerShdw>
          </a:effectLst>
        </p:spPr>
      </p:sp>
      <p:sp>
        <p:nvSpPr>
          <p:cNvPr id="15" name="Shape 11"/>
          <p:cNvSpPr/>
          <p:nvPr/>
        </p:nvSpPr>
        <p:spPr>
          <a:xfrm>
            <a:off x="9098280" y="2286000"/>
            <a:ext cx="868680" cy="868680"/>
          </a:xfrm>
          <a:prstGeom prst="ellipse">
            <a:avLst/>
          </a:prstGeom>
          <a:solidFill>
            <a:srgbClr val="1B2A4A"/>
          </a:solidFill>
          <a:ln/>
        </p:spPr>
      </p:sp>
      <p:pic>
        <p:nvPicPr>
          <p:cNvPr id="16" name="Image 2" descr="icons/users.png">    </p:cNvPr>
          <p:cNvPicPr>
            <a:picLocks noChangeAspect="1"/>
          </p:cNvPicPr>
          <p:nvPr/>
        </p:nvPicPr>
        <p:blipFill>
          <a:blip r:embed="rId3"/>
          <a:stretch>
            <a:fillRect/>
          </a:stretch>
        </p:blipFill>
        <p:spPr>
          <a:xfrm>
            <a:off x="9306763" y="2494483"/>
            <a:ext cx="451714" cy="451714"/>
          </a:xfrm>
          <a:prstGeom prst="rect">
            <a:avLst/>
          </a:prstGeom>
        </p:spPr>
      </p:pic>
      <p:sp>
        <p:nvSpPr>
          <p:cNvPr id="17" name="Text 12"/>
          <p:cNvSpPr/>
          <p:nvPr/>
        </p:nvSpPr>
        <p:spPr>
          <a:xfrm>
            <a:off x="8092440" y="3383280"/>
            <a:ext cx="2880360" cy="548640"/>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Control de cuentas</a:t>
            </a:r>
            <a:endParaRPr lang="en-US" sz="1700" dirty="0"/>
          </a:p>
        </p:txBody>
      </p:sp>
      <p:sp>
        <p:nvSpPr>
          <p:cNvPr id="18" name="Text 13"/>
          <p:cNvSpPr/>
          <p:nvPr/>
        </p:nvSpPr>
        <p:spPr>
          <a:xfrm>
            <a:off x="8138160" y="3977640"/>
            <a:ext cx="2788920" cy="1371600"/>
          </a:xfrm>
          <a:prstGeom prst="rect">
            <a:avLst/>
          </a:prstGeom>
          <a:noFill/>
          <a:ln/>
        </p:spPr>
        <p:txBody>
          <a:bodyPr wrap="square" lIns="0" tIns="0" rIns="0" bIns="0" rtlCol="0" anchor="ctr"/>
          <a:lstStyle/>
          <a:p>
            <a:pPr algn="ctr" indent="0" marL="0">
              <a:buNone/>
            </a:pPr>
            <a:r>
              <a:rPr lang="en-US" sz="1300" dirty="0">
                <a:solidFill>
                  <a:srgbClr val="1E1E1E"/>
                </a:solidFill>
                <a:latin typeface="Calibri" pitchFamily="34" charset="0"/>
                <a:ea typeface="Calibri" pitchFamily="34" charset="-122"/>
                <a:cs typeface="Calibri" pitchFamily="34" charset="-120"/>
              </a:rPr>
              <a:t>Creación de usuarios y asignación de permisos seguros.</a:t>
            </a:r>
            <a:endParaRPr lang="en-US" sz="1300" dirty="0"/>
          </a:p>
        </p:txBody>
      </p:sp>
      <p:sp>
        <p:nvSpPr>
          <p:cNvPr id="19" name="Shape 14"/>
          <p:cNvSpPr/>
          <p:nvPr/>
        </p:nvSpPr>
        <p:spPr>
          <a:xfrm>
            <a:off x="548640" y="5788152"/>
            <a:ext cx="201168" cy="201168"/>
          </a:xfrm>
          <a:prstGeom prst="ellipse">
            <a:avLst/>
          </a:prstGeom>
          <a:solidFill>
            <a:srgbClr val="39A900"/>
          </a:solidFill>
          <a:ln/>
        </p:spPr>
      </p:sp>
      <p:sp>
        <p:nvSpPr>
          <p:cNvPr id="20" name="Text 15"/>
          <p:cNvSpPr/>
          <p:nvPr/>
        </p:nvSpPr>
        <p:spPr>
          <a:xfrm>
            <a:off x="822960" y="5705856"/>
            <a:ext cx="1280160" cy="36576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Normal</a:t>
            </a:r>
            <a:endParaRPr lang="en-US" sz="1100" dirty="0"/>
          </a:p>
        </p:txBody>
      </p:sp>
      <p:sp>
        <p:nvSpPr>
          <p:cNvPr id="21" name="Shape 16"/>
          <p:cNvSpPr/>
          <p:nvPr/>
        </p:nvSpPr>
        <p:spPr>
          <a:xfrm>
            <a:off x="2103120" y="5788152"/>
            <a:ext cx="201168" cy="201168"/>
          </a:xfrm>
          <a:prstGeom prst="ellipse">
            <a:avLst/>
          </a:prstGeom>
          <a:solidFill>
            <a:srgbClr val="C98A00"/>
          </a:solidFill>
          <a:ln/>
        </p:spPr>
      </p:sp>
      <p:sp>
        <p:nvSpPr>
          <p:cNvPr id="22" name="Text 17"/>
          <p:cNvSpPr/>
          <p:nvPr/>
        </p:nvSpPr>
        <p:spPr>
          <a:xfrm>
            <a:off x="2377440" y="5705856"/>
            <a:ext cx="1280160" cy="36576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En riesgo</a:t>
            </a:r>
            <a:endParaRPr lang="en-US" sz="1100" dirty="0"/>
          </a:p>
        </p:txBody>
      </p:sp>
      <p:sp>
        <p:nvSpPr>
          <p:cNvPr id="23" name="Shape 18"/>
          <p:cNvSpPr/>
          <p:nvPr/>
        </p:nvSpPr>
        <p:spPr>
          <a:xfrm>
            <a:off x="3657600" y="5788152"/>
            <a:ext cx="201168" cy="201168"/>
          </a:xfrm>
          <a:prstGeom prst="ellipse">
            <a:avLst/>
          </a:prstGeom>
          <a:solidFill>
            <a:srgbClr val="C0392B"/>
          </a:solidFill>
          <a:ln/>
        </p:spPr>
      </p:sp>
      <p:sp>
        <p:nvSpPr>
          <p:cNvPr id="24" name="Text 19"/>
          <p:cNvSpPr/>
          <p:nvPr/>
        </p:nvSpPr>
        <p:spPr>
          <a:xfrm>
            <a:off x="3931920" y="5705856"/>
            <a:ext cx="1280160" cy="36576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Crítico</a:t>
            </a:r>
            <a:endParaRPr lang="en-US" sz="1100" dirty="0"/>
          </a:p>
        </p:txBody>
      </p:sp>
      <p:sp>
        <p:nvSpPr>
          <p:cNvPr id="25" name="Text 20"/>
          <p:cNvSpPr/>
          <p:nvPr/>
        </p:nvSpPr>
        <p:spPr>
          <a:xfrm>
            <a:off x="457200" y="6492240"/>
            <a:ext cx="5486400" cy="274320"/>
          </a:xfrm>
          <a:prstGeom prst="rect">
            <a:avLst/>
          </a:prstGeom>
          <a:noFill/>
          <a:ln/>
        </p:spPr>
        <p:txBody>
          <a:bodyPr wrap="square" rtlCol="0" anchor="ctr"/>
          <a:lstStyle/>
          <a:p>
            <a:pPr algn="l" indent="0" marL="0">
              <a:buNone/>
            </a:pPr>
            <a:r>
              <a:rPr lang="en-US" sz="1000" dirty="0">
                <a:solidFill>
                  <a:srgbClr val="5B6570"/>
                </a:solidFill>
                <a:latin typeface="Calibri" pitchFamily="34" charset="0"/>
                <a:ea typeface="Calibri" pitchFamily="34" charset="-122"/>
                <a:cs typeface="Calibri" pitchFamily="34" charset="-120"/>
              </a:rPr>
              <a:t>SENA — Gestión de Horarios</a:t>
            </a:r>
            <a:endParaRPr lang="en-US" sz="1000" dirty="0"/>
          </a:p>
        </p:txBody>
      </p:sp>
      <p:sp>
        <p:nvSpPr>
          <p:cNvPr id="26" name="Text 21"/>
          <p:cNvSpPr/>
          <p:nvPr/>
        </p:nvSpPr>
        <p:spPr>
          <a:xfrm>
            <a:off x="11274552" y="6492240"/>
            <a:ext cx="457200" cy="274320"/>
          </a:xfrm>
          <a:prstGeom prst="rect">
            <a:avLst/>
          </a:prstGeom>
          <a:noFill/>
          <a:ln/>
        </p:spPr>
        <p:txBody>
          <a:bodyPr wrap="square"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400" b="1" spc="200" kern="0" dirty="0">
                <a:solidFill>
                  <a:srgbClr val="39A900"/>
                </a:solidFill>
                <a:latin typeface="Calibri" pitchFamily="34" charset="0"/>
                <a:ea typeface="Calibri" pitchFamily="34" charset="-122"/>
                <a:cs typeface="Calibri" pitchFamily="34" charset="-120"/>
              </a:rPr>
              <a:t>ADMINISTRACIÓN Y SEGURIDAD</a:t>
            </a:r>
            <a:endParaRPr lang="en-US" sz="14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Constancias en PDF y caja negra de seguridad</a:t>
            </a:r>
            <a:endParaRPr lang="en-US" sz="3000" dirty="0"/>
          </a:p>
        </p:txBody>
      </p:sp>
      <p:sp>
        <p:nvSpPr>
          <p:cNvPr id="4" name="Shape 2"/>
          <p:cNvSpPr/>
          <p:nvPr/>
        </p:nvSpPr>
        <p:spPr>
          <a:xfrm>
            <a:off x="548640" y="1965960"/>
            <a:ext cx="3337560" cy="3657600"/>
          </a:xfrm>
          <a:prstGeom prst="roundRect">
            <a:avLst>
              <a:gd name="adj" fmla="val 3288"/>
            </a:avLst>
          </a:prstGeom>
          <a:solidFill>
            <a:srgbClr val="13203A"/>
          </a:solidFill>
          <a:ln/>
        </p:spPr>
      </p:sp>
      <p:sp>
        <p:nvSpPr>
          <p:cNvPr id="5" name="Shape 3"/>
          <p:cNvSpPr/>
          <p:nvPr/>
        </p:nvSpPr>
        <p:spPr>
          <a:xfrm>
            <a:off x="1805940" y="2377440"/>
            <a:ext cx="822960" cy="822960"/>
          </a:xfrm>
          <a:prstGeom prst="ellipse">
            <a:avLst/>
          </a:prstGeom>
          <a:solidFill>
            <a:srgbClr val="39A900"/>
          </a:solidFill>
          <a:ln/>
        </p:spPr>
      </p:sp>
      <p:pic>
        <p:nvPicPr>
          <p:cNvPr id="6" name="Image 0" descr="icons/filepdf.png">    </p:cNvPr>
          <p:cNvPicPr>
            <a:picLocks noChangeAspect="1"/>
          </p:cNvPicPr>
          <p:nvPr/>
        </p:nvPicPr>
        <p:blipFill>
          <a:blip r:embed="rId1"/>
          <a:stretch>
            <a:fillRect/>
          </a:stretch>
        </p:blipFill>
        <p:spPr>
          <a:xfrm>
            <a:off x="2003450" y="2574950"/>
            <a:ext cx="427939" cy="427939"/>
          </a:xfrm>
          <a:prstGeom prst="rect">
            <a:avLst/>
          </a:prstGeom>
        </p:spPr>
      </p:pic>
      <p:sp>
        <p:nvSpPr>
          <p:cNvPr id="7" name="Text 4"/>
          <p:cNvSpPr/>
          <p:nvPr/>
        </p:nvSpPr>
        <p:spPr>
          <a:xfrm>
            <a:off x="777240" y="3429000"/>
            <a:ext cx="28803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Constancias en PDF</a:t>
            </a:r>
            <a:endParaRPr lang="en-US" sz="1700" dirty="0"/>
          </a:p>
        </p:txBody>
      </p:sp>
      <p:sp>
        <p:nvSpPr>
          <p:cNvPr id="8" name="Text 5"/>
          <p:cNvSpPr/>
          <p:nvPr/>
        </p:nvSpPr>
        <p:spPr>
          <a:xfrm>
            <a:off x="822960" y="4023360"/>
            <a:ext cx="2788920" cy="1280160"/>
          </a:xfrm>
          <a:prstGeom prst="rect">
            <a:avLst/>
          </a:prstGeom>
          <a:noFill/>
          <a:ln/>
        </p:spPr>
        <p:txBody>
          <a:bodyPr wrap="square" lIns="0" tIns="0" rIns="0" bIns="0" rtlCol="0" anchor="ctr"/>
          <a:lstStyle/>
          <a:p>
            <a:pPr algn="ctr" indent="0" marL="0">
              <a:buNone/>
            </a:pPr>
            <a:r>
              <a:rPr lang="en-US" sz="1300" dirty="0">
                <a:solidFill>
                  <a:srgbClr val="CBD5DE"/>
                </a:solidFill>
                <a:latin typeface="Calibri" pitchFamily="34" charset="0"/>
                <a:ea typeface="Calibri" pitchFamily="34" charset="-122"/>
                <a:cs typeface="Calibri" pitchFamily="34" charset="-120"/>
              </a:rPr>
              <a:t>Generación y descarga segura de certificados de horario.</a:t>
            </a:r>
            <a:endParaRPr lang="en-US" sz="1300" dirty="0"/>
          </a:p>
        </p:txBody>
      </p:sp>
      <p:sp>
        <p:nvSpPr>
          <p:cNvPr id="9" name="Shape 6"/>
          <p:cNvSpPr/>
          <p:nvPr/>
        </p:nvSpPr>
        <p:spPr>
          <a:xfrm>
            <a:off x="4206240" y="1965960"/>
            <a:ext cx="3337560" cy="3657600"/>
          </a:xfrm>
          <a:prstGeom prst="roundRect">
            <a:avLst>
              <a:gd name="adj" fmla="val 3288"/>
            </a:avLst>
          </a:prstGeom>
          <a:solidFill>
            <a:srgbClr val="13203A"/>
          </a:solidFill>
          <a:ln/>
        </p:spPr>
      </p:sp>
      <p:sp>
        <p:nvSpPr>
          <p:cNvPr id="10" name="Shape 7"/>
          <p:cNvSpPr/>
          <p:nvPr/>
        </p:nvSpPr>
        <p:spPr>
          <a:xfrm>
            <a:off x="5463540" y="2377440"/>
            <a:ext cx="822960" cy="822960"/>
          </a:xfrm>
          <a:prstGeom prst="ellipse">
            <a:avLst/>
          </a:prstGeom>
          <a:solidFill>
            <a:srgbClr val="39A900"/>
          </a:solidFill>
          <a:ln/>
        </p:spPr>
      </p:sp>
      <p:pic>
        <p:nvPicPr>
          <p:cNvPr id="11" name="Image 1" descr="icons/palette.png">    </p:cNvPr>
          <p:cNvPicPr>
            <a:picLocks noChangeAspect="1"/>
          </p:cNvPicPr>
          <p:nvPr/>
        </p:nvPicPr>
        <p:blipFill>
          <a:blip r:embed="rId2"/>
          <a:stretch>
            <a:fillRect/>
          </a:stretch>
        </p:blipFill>
        <p:spPr>
          <a:xfrm>
            <a:off x="5661050" y="2574950"/>
            <a:ext cx="427939" cy="427939"/>
          </a:xfrm>
          <a:prstGeom prst="rect">
            <a:avLst/>
          </a:prstGeom>
        </p:spPr>
      </p:pic>
      <p:sp>
        <p:nvSpPr>
          <p:cNvPr id="12" name="Text 8"/>
          <p:cNvSpPr/>
          <p:nvPr/>
        </p:nvSpPr>
        <p:spPr>
          <a:xfrm>
            <a:off x="4434840" y="3429000"/>
            <a:ext cx="28803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Editor de plantillas</a:t>
            </a:r>
            <a:endParaRPr lang="en-US" sz="1700" dirty="0"/>
          </a:p>
        </p:txBody>
      </p:sp>
      <p:sp>
        <p:nvSpPr>
          <p:cNvPr id="13" name="Text 9"/>
          <p:cNvSpPr/>
          <p:nvPr/>
        </p:nvSpPr>
        <p:spPr>
          <a:xfrm>
            <a:off x="4480560" y="4023360"/>
            <a:ext cx="2788920" cy="1280160"/>
          </a:xfrm>
          <a:prstGeom prst="rect">
            <a:avLst/>
          </a:prstGeom>
          <a:noFill/>
          <a:ln/>
        </p:spPr>
        <p:txBody>
          <a:bodyPr wrap="square" lIns="0" tIns="0" rIns="0" bIns="0" rtlCol="0" anchor="ctr"/>
          <a:lstStyle/>
          <a:p>
            <a:pPr algn="ctr" indent="0" marL="0">
              <a:buNone/>
            </a:pPr>
            <a:r>
              <a:rPr lang="en-US" sz="1300" dirty="0">
                <a:solidFill>
                  <a:srgbClr val="CBD5DE"/>
                </a:solidFill>
                <a:latin typeface="Calibri" pitchFamily="34" charset="0"/>
                <a:ea typeface="Calibri" pitchFamily="34" charset="-122"/>
                <a:cs typeface="Calibri" pitchFamily="34" charset="-120"/>
              </a:rPr>
              <a:t>Personalización visual de logos y encabezados institucionales.</a:t>
            </a:r>
            <a:endParaRPr lang="en-US" sz="1300" dirty="0"/>
          </a:p>
        </p:txBody>
      </p:sp>
      <p:sp>
        <p:nvSpPr>
          <p:cNvPr id="14" name="Shape 10"/>
          <p:cNvSpPr/>
          <p:nvPr/>
        </p:nvSpPr>
        <p:spPr>
          <a:xfrm>
            <a:off x="7863840" y="1965960"/>
            <a:ext cx="3337560" cy="3657600"/>
          </a:xfrm>
          <a:prstGeom prst="roundRect">
            <a:avLst>
              <a:gd name="adj" fmla="val 3288"/>
            </a:avLst>
          </a:prstGeom>
          <a:solidFill>
            <a:srgbClr val="13203A"/>
          </a:solidFill>
          <a:ln/>
        </p:spPr>
      </p:sp>
      <p:sp>
        <p:nvSpPr>
          <p:cNvPr id="15" name="Shape 11"/>
          <p:cNvSpPr/>
          <p:nvPr/>
        </p:nvSpPr>
        <p:spPr>
          <a:xfrm>
            <a:off x="9121140" y="2377440"/>
            <a:ext cx="822960" cy="822960"/>
          </a:xfrm>
          <a:prstGeom prst="ellipse">
            <a:avLst/>
          </a:prstGeom>
          <a:solidFill>
            <a:srgbClr val="39A900"/>
          </a:solidFill>
          <a:ln/>
        </p:spPr>
      </p:sp>
      <p:pic>
        <p:nvPicPr>
          <p:cNvPr id="16" name="Image 2" descr="icons/lock.png">    </p:cNvPr>
          <p:cNvPicPr>
            <a:picLocks noChangeAspect="1"/>
          </p:cNvPicPr>
          <p:nvPr/>
        </p:nvPicPr>
        <p:blipFill>
          <a:blip r:embed="rId3"/>
          <a:stretch>
            <a:fillRect/>
          </a:stretch>
        </p:blipFill>
        <p:spPr>
          <a:xfrm>
            <a:off x="9318650" y="2574950"/>
            <a:ext cx="427939" cy="427939"/>
          </a:xfrm>
          <a:prstGeom prst="rect">
            <a:avLst/>
          </a:prstGeom>
        </p:spPr>
      </p:pic>
      <p:sp>
        <p:nvSpPr>
          <p:cNvPr id="17" name="Text 12"/>
          <p:cNvSpPr/>
          <p:nvPr/>
        </p:nvSpPr>
        <p:spPr>
          <a:xfrm>
            <a:off x="8092440" y="3429000"/>
            <a:ext cx="28803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Libro de auditoría</a:t>
            </a:r>
            <a:endParaRPr lang="en-US" sz="1700" dirty="0"/>
          </a:p>
        </p:txBody>
      </p:sp>
      <p:sp>
        <p:nvSpPr>
          <p:cNvPr id="18" name="Text 13"/>
          <p:cNvSpPr/>
          <p:nvPr/>
        </p:nvSpPr>
        <p:spPr>
          <a:xfrm>
            <a:off x="8138160" y="4023360"/>
            <a:ext cx="2788920" cy="1280160"/>
          </a:xfrm>
          <a:prstGeom prst="rect">
            <a:avLst/>
          </a:prstGeom>
          <a:noFill/>
          <a:ln/>
        </p:spPr>
        <p:txBody>
          <a:bodyPr wrap="square" lIns="0" tIns="0" rIns="0" bIns="0" rtlCol="0" anchor="ctr"/>
          <a:lstStyle/>
          <a:p>
            <a:pPr algn="ctr" indent="0" marL="0">
              <a:buNone/>
            </a:pPr>
            <a:r>
              <a:rPr lang="en-US" sz="1300" dirty="0">
                <a:solidFill>
                  <a:srgbClr val="CBD5DE"/>
                </a:solidFill>
                <a:latin typeface="Calibri" pitchFamily="34" charset="0"/>
                <a:ea typeface="Calibri" pitchFamily="34" charset="-122"/>
                <a:cs typeface="Calibri" pitchFamily="34" charset="-120"/>
              </a:rPr>
              <a:t>Registro inmutable de quién creó, editó o publicó cada horario.</a:t>
            </a:r>
            <a:endParaRPr lang="en-US" sz="1300" dirty="0"/>
          </a:p>
        </p:txBody>
      </p:sp>
      <p:sp>
        <p:nvSpPr>
          <p:cNvPr id="19" name="Text 14"/>
          <p:cNvSpPr/>
          <p:nvPr/>
        </p:nvSpPr>
        <p:spPr>
          <a:xfrm>
            <a:off x="457200" y="6492240"/>
            <a:ext cx="5486400" cy="274320"/>
          </a:xfrm>
          <a:prstGeom prst="rect">
            <a:avLst/>
          </a:prstGeom>
          <a:noFill/>
          <a:ln/>
        </p:spPr>
        <p:txBody>
          <a:bodyPr wrap="square" rtlCol="0" anchor="ctr"/>
          <a:lstStyle/>
          <a:p>
            <a:pPr algn="l" indent="0" marL="0">
              <a:buNone/>
            </a:pPr>
            <a:r>
              <a:rPr lang="en-US" sz="1000" dirty="0">
                <a:solidFill>
                  <a:srgbClr val="AEB8C4"/>
                </a:solidFill>
                <a:latin typeface="Calibri" pitchFamily="34" charset="0"/>
                <a:ea typeface="Calibri" pitchFamily="34" charset="-122"/>
                <a:cs typeface="Calibri" pitchFamily="34" charset="-120"/>
              </a:rPr>
              <a:t>SENA — Gestión de Horarios</a:t>
            </a:r>
            <a:endParaRPr lang="en-US" sz="1000" dirty="0"/>
          </a:p>
        </p:txBody>
      </p:sp>
      <p:sp>
        <p:nvSpPr>
          <p:cNvPr id="20" name="Text 15"/>
          <p:cNvSpPr/>
          <p:nvPr/>
        </p:nvSpPr>
        <p:spPr>
          <a:xfrm>
            <a:off x="11274552" y="6492240"/>
            <a:ext cx="457200" cy="274320"/>
          </a:xfrm>
          <a:prstGeom prst="rect">
            <a:avLst/>
          </a:prstGeom>
          <a:noFill/>
          <a:ln/>
        </p:spPr>
        <p:txBody>
          <a:bodyPr wrap="square" rtlCol="0" anchor="ctr"/>
          <a:lstStyle/>
          <a:p>
            <a:pPr algn="r" indent="0" marL="0">
              <a:buNone/>
            </a:pPr>
            <a:r>
              <a:rPr lang="en-US" sz="1000" dirty="0">
                <a:solidFill>
                  <a:srgbClr val="AEB8C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5"/>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400" b="1" spc="200" kern="0" dirty="0">
                <a:solidFill>
                  <a:srgbClr val="39A900"/>
                </a:solidFill>
                <a:latin typeface="Calibri" pitchFamily="34" charset="0"/>
                <a:ea typeface="Calibri" pitchFamily="34" charset="-122"/>
                <a:cs typeface="Calibri" pitchFamily="34" charset="-120"/>
              </a:rPr>
              <a:t>ESTRUCTURA COMPLETA</a:t>
            </a:r>
            <a:endParaRPr lang="en-US" sz="14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El mapa general del prototipo navegable</a:t>
            </a:r>
            <a:endParaRPr lang="en-US" sz="3200" dirty="0"/>
          </a:p>
        </p:txBody>
      </p:sp>
      <p:sp>
        <p:nvSpPr>
          <p:cNvPr id="4" name="Shape 2"/>
          <p:cNvSpPr/>
          <p:nvPr/>
        </p:nvSpPr>
        <p:spPr>
          <a:xfrm>
            <a:off x="548640" y="1554480"/>
            <a:ext cx="2606040" cy="1874520"/>
          </a:xfrm>
          <a:prstGeom prst="roundRect">
            <a:avLst>
              <a:gd name="adj" fmla="val 4878"/>
            </a:avLst>
          </a:prstGeom>
          <a:solidFill>
            <a:srgbClr val="FFFFFF"/>
          </a:solidFill>
          <a:ln/>
          <a:effectLst>
            <a:outerShdw sx="100000" sy="100000" kx="0" ky="0" algn="bl" rotWithShape="0" blurRad="76200" dist="25400" dir="5400000">
              <a:srgbClr val="000000">
                <a:alpha val="13000"/>
              </a:srgbClr>
            </a:outerShdw>
          </a:effectLst>
        </p:spPr>
      </p:sp>
      <p:sp>
        <p:nvSpPr>
          <p:cNvPr id="5" name="Text 3"/>
          <p:cNvSpPr/>
          <p:nvPr/>
        </p:nvSpPr>
        <p:spPr>
          <a:xfrm>
            <a:off x="685800" y="1627632"/>
            <a:ext cx="640080" cy="365760"/>
          </a:xfrm>
          <a:prstGeom prst="rect">
            <a:avLst/>
          </a:prstGeom>
          <a:noFill/>
          <a:ln/>
        </p:spPr>
        <p:txBody>
          <a:bodyPr wrap="square" lIns="0" tIns="0" rIns="0" bIns="0" rtlCol="0" anchor="ctr"/>
          <a:lstStyle/>
          <a:p>
            <a:pPr indent="0" marL="0">
              <a:buNone/>
            </a:pPr>
            <a:r>
              <a:rPr lang="en-US" sz="1600" b="1" dirty="0">
                <a:solidFill>
                  <a:srgbClr val="D3D9DE"/>
                </a:solidFill>
                <a:latin typeface="Cambria" pitchFamily="34" charset="0"/>
                <a:ea typeface="Cambria" pitchFamily="34" charset="-122"/>
                <a:cs typeface="Cambria" pitchFamily="34" charset="-120"/>
              </a:rPr>
              <a:t>01</a:t>
            </a:r>
            <a:endParaRPr lang="en-US" sz="1600" dirty="0"/>
          </a:p>
        </p:txBody>
      </p:sp>
      <p:sp>
        <p:nvSpPr>
          <p:cNvPr id="6" name="Shape 4"/>
          <p:cNvSpPr/>
          <p:nvPr/>
        </p:nvSpPr>
        <p:spPr>
          <a:xfrm>
            <a:off x="2560320" y="1664208"/>
            <a:ext cx="457200" cy="457200"/>
          </a:xfrm>
          <a:prstGeom prst="ellipse">
            <a:avLst/>
          </a:prstGeom>
          <a:solidFill>
            <a:srgbClr val="39A900"/>
          </a:solidFill>
          <a:ln/>
        </p:spPr>
      </p:sp>
      <p:pic>
        <p:nvPicPr>
          <p:cNvPr id="7" name="Image 0" descr="icons/key.png">    </p:cNvPr>
          <p:cNvPicPr>
            <a:picLocks noChangeAspect="1"/>
          </p:cNvPicPr>
          <p:nvPr/>
        </p:nvPicPr>
        <p:blipFill>
          <a:blip r:embed="rId1"/>
          <a:stretch>
            <a:fillRect/>
          </a:stretch>
        </p:blipFill>
        <p:spPr>
          <a:xfrm>
            <a:off x="2663190" y="1767078"/>
            <a:ext cx="251460" cy="251460"/>
          </a:xfrm>
          <a:prstGeom prst="rect">
            <a:avLst/>
          </a:prstGeom>
        </p:spPr>
      </p:pic>
      <p:sp>
        <p:nvSpPr>
          <p:cNvPr id="8" name="Text 5"/>
          <p:cNvSpPr/>
          <p:nvPr/>
        </p:nvSpPr>
        <p:spPr>
          <a:xfrm>
            <a:off x="685800" y="2121408"/>
            <a:ext cx="2331720" cy="320040"/>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Acceso y Shell</a:t>
            </a:r>
            <a:endParaRPr lang="en-US" sz="1300" dirty="0"/>
          </a:p>
        </p:txBody>
      </p:sp>
      <p:sp>
        <p:nvSpPr>
          <p:cNvPr id="9" name="Text 6"/>
          <p:cNvSpPr/>
          <p:nvPr/>
        </p:nvSpPr>
        <p:spPr>
          <a:xfrm>
            <a:off x="685800" y="2441448"/>
            <a:ext cx="2331720" cy="256032"/>
          </a:xfrm>
          <a:prstGeom prst="rect">
            <a:avLst/>
          </a:prstGeom>
          <a:noFill/>
          <a:ln/>
        </p:spPr>
        <p:txBody>
          <a:bodyPr wrap="square" lIns="0" tIns="0" rIns="0" bIns="0" rtlCol="0" anchor="ctr"/>
          <a:lstStyle/>
          <a:p>
            <a:pPr indent="0" marL="0">
              <a:buNone/>
            </a:pPr>
            <a:r>
              <a:rPr lang="en-US" sz="950" b="1" dirty="0">
                <a:solidFill>
                  <a:srgbClr val="2C8500"/>
                </a:solidFill>
                <a:latin typeface="Calibri" pitchFamily="34" charset="0"/>
                <a:ea typeface="Calibri" pitchFamily="34" charset="-122"/>
                <a:cs typeface="Calibri" pitchFamily="34" charset="-120"/>
              </a:rPr>
              <a:t>Pantallas 1–6</a:t>
            </a:r>
            <a:endParaRPr lang="en-US" sz="950" dirty="0"/>
          </a:p>
        </p:txBody>
      </p:sp>
      <p:sp>
        <p:nvSpPr>
          <p:cNvPr id="10" name="Text 7"/>
          <p:cNvSpPr/>
          <p:nvPr/>
        </p:nvSpPr>
        <p:spPr>
          <a:xfrm>
            <a:off x="685800" y="2724912"/>
            <a:ext cx="2331720" cy="640080"/>
          </a:xfrm>
          <a:prstGeom prst="rect">
            <a:avLst/>
          </a:prstGeom>
          <a:noFill/>
          <a:ln/>
        </p:spPr>
        <p:txBody>
          <a:bodyPr wrap="square" lIns="0" tIns="0" rIns="0" bIns="0" rtlCol="0" anchor="ctr"/>
          <a:lstStyle/>
          <a:p>
            <a:pPr indent="0" marL="0">
              <a:buNone/>
            </a:pPr>
            <a:r>
              <a:rPr lang="en-US" sz="950" dirty="0">
                <a:solidFill>
                  <a:srgbClr val="1E1E1E"/>
                </a:solidFill>
                <a:latin typeface="Calibri" pitchFamily="34" charset="0"/>
                <a:ea typeface="Calibri" pitchFamily="34" charset="-122"/>
                <a:cs typeface="Calibri" pitchFamily="34" charset="-120"/>
              </a:rPr>
              <a:t>Login, recuperar clave, marco general y avisos.</a:t>
            </a:r>
            <a:endParaRPr lang="en-US" sz="950" dirty="0"/>
          </a:p>
        </p:txBody>
      </p:sp>
      <p:sp>
        <p:nvSpPr>
          <p:cNvPr id="11" name="Shape 8"/>
          <p:cNvSpPr/>
          <p:nvPr/>
        </p:nvSpPr>
        <p:spPr>
          <a:xfrm>
            <a:off x="3282696" y="1554480"/>
            <a:ext cx="2606040" cy="1874520"/>
          </a:xfrm>
          <a:prstGeom prst="roundRect">
            <a:avLst>
              <a:gd name="adj" fmla="val 4878"/>
            </a:avLst>
          </a:prstGeom>
          <a:solidFill>
            <a:srgbClr val="FFFFFF"/>
          </a:solidFill>
          <a:ln/>
          <a:effectLst>
            <a:outerShdw sx="100000" sy="100000" kx="0" ky="0" algn="bl" rotWithShape="0" blurRad="76200" dist="25400" dir="5400000">
              <a:srgbClr val="000000">
                <a:alpha val="13000"/>
              </a:srgbClr>
            </a:outerShdw>
          </a:effectLst>
        </p:spPr>
      </p:sp>
      <p:sp>
        <p:nvSpPr>
          <p:cNvPr id="12" name="Text 9"/>
          <p:cNvSpPr/>
          <p:nvPr/>
        </p:nvSpPr>
        <p:spPr>
          <a:xfrm>
            <a:off x="3419856" y="1627632"/>
            <a:ext cx="640080" cy="365760"/>
          </a:xfrm>
          <a:prstGeom prst="rect">
            <a:avLst/>
          </a:prstGeom>
          <a:noFill/>
          <a:ln/>
        </p:spPr>
        <p:txBody>
          <a:bodyPr wrap="square" lIns="0" tIns="0" rIns="0" bIns="0" rtlCol="0" anchor="ctr"/>
          <a:lstStyle/>
          <a:p>
            <a:pPr indent="0" marL="0">
              <a:buNone/>
            </a:pPr>
            <a:r>
              <a:rPr lang="en-US" sz="1600" b="1" dirty="0">
                <a:solidFill>
                  <a:srgbClr val="D3D9DE"/>
                </a:solidFill>
                <a:latin typeface="Cambria" pitchFamily="34" charset="0"/>
                <a:ea typeface="Cambria" pitchFamily="34" charset="-122"/>
                <a:cs typeface="Cambria" pitchFamily="34" charset="-120"/>
              </a:rPr>
              <a:t>02</a:t>
            </a:r>
            <a:endParaRPr lang="en-US" sz="1600" dirty="0"/>
          </a:p>
        </p:txBody>
      </p:sp>
      <p:sp>
        <p:nvSpPr>
          <p:cNvPr id="13" name="Shape 10"/>
          <p:cNvSpPr/>
          <p:nvPr/>
        </p:nvSpPr>
        <p:spPr>
          <a:xfrm>
            <a:off x="5294376" y="1664208"/>
            <a:ext cx="457200" cy="457200"/>
          </a:xfrm>
          <a:prstGeom prst="ellipse">
            <a:avLst/>
          </a:prstGeom>
          <a:solidFill>
            <a:srgbClr val="39A900"/>
          </a:solidFill>
          <a:ln/>
        </p:spPr>
      </p:sp>
      <p:pic>
        <p:nvPicPr>
          <p:cNvPr id="14" name="Image 1" descr="icons/clipboard.png">    </p:cNvPr>
          <p:cNvPicPr>
            <a:picLocks noChangeAspect="1"/>
          </p:cNvPicPr>
          <p:nvPr/>
        </p:nvPicPr>
        <p:blipFill>
          <a:blip r:embed="rId2"/>
          <a:stretch>
            <a:fillRect/>
          </a:stretch>
        </p:blipFill>
        <p:spPr>
          <a:xfrm>
            <a:off x="5397246" y="1767078"/>
            <a:ext cx="251460" cy="251460"/>
          </a:xfrm>
          <a:prstGeom prst="rect">
            <a:avLst/>
          </a:prstGeom>
        </p:spPr>
      </p:pic>
      <p:sp>
        <p:nvSpPr>
          <p:cNvPr id="15" name="Text 11"/>
          <p:cNvSpPr/>
          <p:nvPr/>
        </p:nvSpPr>
        <p:spPr>
          <a:xfrm>
            <a:off x="3419856" y="2121408"/>
            <a:ext cx="2331720" cy="320040"/>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Coordinador</a:t>
            </a:r>
            <a:endParaRPr lang="en-US" sz="1300" dirty="0"/>
          </a:p>
        </p:txBody>
      </p:sp>
      <p:sp>
        <p:nvSpPr>
          <p:cNvPr id="16" name="Text 12"/>
          <p:cNvSpPr/>
          <p:nvPr/>
        </p:nvSpPr>
        <p:spPr>
          <a:xfrm>
            <a:off x="3419856" y="2441448"/>
            <a:ext cx="2331720" cy="256032"/>
          </a:xfrm>
          <a:prstGeom prst="rect">
            <a:avLst/>
          </a:prstGeom>
          <a:noFill/>
          <a:ln/>
        </p:spPr>
        <p:txBody>
          <a:bodyPr wrap="square" lIns="0" tIns="0" rIns="0" bIns="0" rtlCol="0" anchor="ctr"/>
          <a:lstStyle/>
          <a:p>
            <a:pPr indent="0" marL="0">
              <a:buNone/>
            </a:pPr>
            <a:r>
              <a:rPr lang="en-US" sz="950" b="1" dirty="0">
                <a:solidFill>
                  <a:srgbClr val="2C8500"/>
                </a:solidFill>
                <a:latin typeface="Calibri" pitchFamily="34" charset="0"/>
                <a:ea typeface="Calibri" pitchFamily="34" charset="-122"/>
                <a:cs typeface="Calibri" pitchFamily="34" charset="-120"/>
              </a:rPr>
              <a:t>Pantallas 7–18</a:t>
            </a:r>
            <a:endParaRPr lang="en-US" sz="950" dirty="0"/>
          </a:p>
        </p:txBody>
      </p:sp>
      <p:sp>
        <p:nvSpPr>
          <p:cNvPr id="17" name="Text 13"/>
          <p:cNvSpPr/>
          <p:nvPr/>
        </p:nvSpPr>
        <p:spPr>
          <a:xfrm>
            <a:off x="3419856" y="2724912"/>
            <a:ext cx="2331720" cy="640080"/>
          </a:xfrm>
          <a:prstGeom prst="rect">
            <a:avLst/>
          </a:prstGeom>
          <a:noFill/>
          <a:ln/>
        </p:spPr>
        <p:txBody>
          <a:bodyPr wrap="square" lIns="0" tIns="0" rIns="0" bIns="0" rtlCol="0" anchor="ctr"/>
          <a:lstStyle/>
          <a:p>
            <a:pPr indent="0" marL="0">
              <a:buNone/>
            </a:pPr>
            <a:r>
              <a:rPr lang="en-US" sz="950" dirty="0">
                <a:solidFill>
                  <a:srgbClr val="1E1E1E"/>
                </a:solidFill>
                <a:latin typeface="Calibri" pitchFamily="34" charset="0"/>
                <a:ea typeface="Calibri" pitchFamily="34" charset="-122"/>
                <a:cs typeface="Calibri" pitchFamily="34" charset="-120"/>
              </a:rPr>
              <a:t>Inicio, lista de horarios, editor, sesiones y conflictos.</a:t>
            </a:r>
            <a:endParaRPr lang="en-US" sz="950" dirty="0"/>
          </a:p>
        </p:txBody>
      </p:sp>
      <p:sp>
        <p:nvSpPr>
          <p:cNvPr id="18" name="Shape 14"/>
          <p:cNvSpPr/>
          <p:nvPr/>
        </p:nvSpPr>
        <p:spPr>
          <a:xfrm>
            <a:off x="6016752" y="1554480"/>
            <a:ext cx="2606040" cy="1874520"/>
          </a:xfrm>
          <a:prstGeom prst="roundRect">
            <a:avLst>
              <a:gd name="adj" fmla="val 4878"/>
            </a:avLst>
          </a:prstGeom>
          <a:solidFill>
            <a:srgbClr val="FFFFFF"/>
          </a:solidFill>
          <a:ln/>
          <a:effectLst>
            <a:outerShdw sx="100000" sy="100000" kx="0" ky="0" algn="bl" rotWithShape="0" blurRad="76200" dist="25400" dir="5400000">
              <a:srgbClr val="000000">
                <a:alpha val="13000"/>
              </a:srgbClr>
            </a:outerShdw>
          </a:effectLst>
        </p:spPr>
      </p:sp>
      <p:sp>
        <p:nvSpPr>
          <p:cNvPr id="19" name="Text 15"/>
          <p:cNvSpPr/>
          <p:nvPr/>
        </p:nvSpPr>
        <p:spPr>
          <a:xfrm>
            <a:off x="6153912" y="1627632"/>
            <a:ext cx="640080" cy="365760"/>
          </a:xfrm>
          <a:prstGeom prst="rect">
            <a:avLst/>
          </a:prstGeom>
          <a:noFill/>
          <a:ln/>
        </p:spPr>
        <p:txBody>
          <a:bodyPr wrap="square" lIns="0" tIns="0" rIns="0" bIns="0" rtlCol="0" anchor="ctr"/>
          <a:lstStyle/>
          <a:p>
            <a:pPr indent="0" marL="0">
              <a:buNone/>
            </a:pPr>
            <a:r>
              <a:rPr lang="en-US" sz="1600" b="1" dirty="0">
                <a:solidFill>
                  <a:srgbClr val="D3D9DE"/>
                </a:solidFill>
                <a:latin typeface="Cambria" pitchFamily="34" charset="0"/>
                <a:ea typeface="Cambria" pitchFamily="34" charset="-122"/>
                <a:cs typeface="Cambria" pitchFamily="34" charset="-120"/>
              </a:rPr>
              <a:t>03</a:t>
            </a:r>
            <a:endParaRPr lang="en-US" sz="1600" dirty="0"/>
          </a:p>
        </p:txBody>
      </p:sp>
      <p:sp>
        <p:nvSpPr>
          <p:cNvPr id="20" name="Shape 16"/>
          <p:cNvSpPr/>
          <p:nvPr/>
        </p:nvSpPr>
        <p:spPr>
          <a:xfrm>
            <a:off x="8028432" y="1664208"/>
            <a:ext cx="457200" cy="457200"/>
          </a:xfrm>
          <a:prstGeom prst="ellipse">
            <a:avLst/>
          </a:prstGeom>
          <a:solidFill>
            <a:srgbClr val="39A900"/>
          </a:solidFill>
          <a:ln/>
        </p:spPr>
      </p:sp>
      <p:pic>
        <p:nvPicPr>
          <p:cNvPr id="21" name="Image 2" descr="icons/teacher.png">    </p:cNvPr>
          <p:cNvPicPr>
            <a:picLocks noChangeAspect="1"/>
          </p:cNvPicPr>
          <p:nvPr/>
        </p:nvPicPr>
        <p:blipFill>
          <a:blip r:embed="rId3"/>
          <a:stretch>
            <a:fillRect/>
          </a:stretch>
        </p:blipFill>
        <p:spPr>
          <a:xfrm>
            <a:off x="8131302" y="1767078"/>
            <a:ext cx="251460" cy="251460"/>
          </a:xfrm>
          <a:prstGeom prst="rect">
            <a:avLst/>
          </a:prstGeom>
        </p:spPr>
      </p:pic>
      <p:sp>
        <p:nvSpPr>
          <p:cNvPr id="22" name="Text 17"/>
          <p:cNvSpPr/>
          <p:nvPr/>
        </p:nvSpPr>
        <p:spPr>
          <a:xfrm>
            <a:off x="6153912" y="2121408"/>
            <a:ext cx="2331720" cy="320040"/>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Instructor</a:t>
            </a:r>
            <a:endParaRPr lang="en-US" sz="1300" dirty="0"/>
          </a:p>
        </p:txBody>
      </p:sp>
      <p:sp>
        <p:nvSpPr>
          <p:cNvPr id="23" name="Text 18"/>
          <p:cNvSpPr/>
          <p:nvPr/>
        </p:nvSpPr>
        <p:spPr>
          <a:xfrm>
            <a:off x="6153912" y="2441448"/>
            <a:ext cx="2331720" cy="256032"/>
          </a:xfrm>
          <a:prstGeom prst="rect">
            <a:avLst/>
          </a:prstGeom>
          <a:noFill/>
          <a:ln/>
        </p:spPr>
        <p:txBody>
          <a:bodyPr wrap="square" lIns="0" tIns="0" rIns="0" bIns="0" rtlCol="0" anchor="ctr"/>
          <a:lstStyle/>
          <a:p>
            <a:pPr indent="0" marL="0">
              <a:buNone/>
            </a:pPr>
            <a:r>
              <a:rPr lang="en-US" sz="950" b="1" dirty="0">
                <a:solidFill>
                  <a:srgbClr val="2C8500"/>
                </a:solidFill>
                <a:latin typeface="Calibri" pitchFamily="34" charset="0"/>
                <a:ea typeface="Calibri" pitchFamily="34" charset="-122"/>
                <a:cs typeface="Calibri" pitchFamily="34" charset="-120"/>
              </a:rPr>
              <a:t>Pantallas 19–24</a:t>
            </a:r>
            <a:endParaRPr lang="en-US" sz="950" dirty="0"/>
          </a:p>
        </p:txBody>
      </p:sp>
      <p:sp>
        <p:nvSpPr>
          <p:cNvPr id="24" name="Text 19"/>
          <p:cNvSpPr/>
          <p:nvPr/>
        </p:nvSpPr>
        <p:spPr>
          <a:xfrm>
            <a:off x="6153912" y="2724912"/>
            <a:ext cx="2331720" cy="640080"/>
          </a:xfrm>
          <a:prstGeom prst="rect">
            <a:avLst/>
          </a:prstGeom>
          <a:noFill/>
          <a:ln/>
        </p:spPr>
        <p:txBody>
          <a:bodyPr wrap="square" lIns="0" tIns="0" rIns="0" bIns="0" rtlCol="0" anchor="ctr"/>
          <a:lstStyle/>
          <a:p>
            <a:pPr indent="0" marL="0">
              <a:buNone/>
            </a:pPr>
            <a:r>
              <a:rPr lang="en-US" sz="950" dirty="0">
                <a:solidFill>
                  <a:srgbClr val="1E1E1E"/>
                </a:solidFill>
                <a:latin typeface="Calibri" pitchFamily="34" charset="0"/>
                <a:ea typeface="Calibri" pitchFamily="34" charset="-122"/>
                <a:cs typeface="Calibri" pitchFamily="34" charset="-120"/>
              </a:rPr>
              <a:t>Mi horario, clases, permisos médicos y asistencia.</a:t>
            </a:r>
            <a:endParaRPr lang="en-US" sz="950" dirty="0"/>
          </a:p>
        </p:txBody>
      </p:sp>
      <p:sp>
        <p:nvSpPr>
          <p:cNvPr id="25" name="Shape 20"/>
          <p:cNvSpPr/>
          <p:nvPr/>
        </p:nvSpPr>
        <p:spPr>
          <a:xfrm>
            <a:off x="8750808" y="1554480"/>
            <a:ext cx="2606040" cy="1874520"/>
          </a:xfrm>
          <a:prstGeom prst="roundRect">
            <a:avLst>
              <a:gd name="adj" fmla="val 4878"/>
            </a:avLst>
          </a:prstGeom>
          <a:solidFill>
            <a:srgbClr val="FFFFFF"/>
          </a:solidFill>
          <a:ln/>
          <a:effectLst>
            <a:outerShdw sx="100000" sy="100000" kx="0" ky="0" algn="bl" rotWithShape="0" blurRad="76200" dist="25400" dir="5400000">
              <a:srgbClr val="000000">
                <a:alpha val="13000"/>
              </a:srgbClr>
            </a:outerShdw>
          </a:effectLst>
        </p:spPr>
      </p:sp>
      <p:sp>
        <p:nvSpPr>
          <p:cNvPr id="26" name="Text 21"/>
          <p:cNvSpPr/>
          <p:nvPr/>
        </p:nvSpPr>
        <p:spPr>
          <a:xfrm>
            <a:off x="8887968" y="1627632"/>
            <a:ext cx="640080" cy="365760"/>
          </a:xfrm>
          <a:prstGeom prst="rect">
            <a:avLst/>
          </a:prstGeom>
          <a:noFill/>
          <a:ln/>
        </p:spPr>
        <p:txBody>
          <a:bodyPr wrap="square" lIns="0" tIns="0" rIns="0" bIns="0" rtlCol="0" anchor="ctr"/>
          <a:lstStyle/>
          <a:p>
            <a:pPr indent="0" marL="0">
              <a:buNone/>
            </a:pPr>
            <a:r>
              <a:rPr lang="en-US" sz="1600" b="1" dirty="0">
                <a:solidFill>
                  <a:srgbClr val="D3D9DE"/>
                </a:solidFill>
                <a:latin typeface="Cambria" pitchFamily="34" charset="0"/>
                <a:ea typeface="Cambria" pitchFamily="34" charset="-122"/>
                <a:cs typeface="Cambria" pitchFamily="34" charset="-120"/>
              </a:rPr>
              <a:t>04</a:t>
            </a:r>
            <a:endParaRPr lang="en-US" sz="1600" dirty="0"/>
          </a:p>
        </p:txBody>
      </p:sp>
      <p:sp>
        <p:nvSpPr>
          <p:cNvPr id="27" name="Shape 22"/>
          <p:cNvSpPr/>
          <p:nvPr/>
        </p:nvSpPr>
        <p:spPr>
          <a:xfrm>
            <a:off x="10762488" y="1664208"/>
            <a:ext cx="457200" cy="457200"/>
          </a:xfrm>
          <a:prstGeom prst="ellipse">
            <a:avLst/>
          </a:prstGeom>
          <a:solidFill>
            <a:srgbClr val="39A900"/>
          </a:solidFill>
          <a:ln/>
        </p:spPr>
      </p:sp>
      <p:pic>
        <p:nvPicPr>
          <p:cNvPr id="28" name="Image 3" descr="icons/usergrad.png">    </p:cNvPr>
          <p:cNvPicPr>
            <a:picLocks noChangeAspect="1"/>
          </p:cNvPicPr>
          <p:nvPr/>
        </p:nvPicPr>
        <p:blipFill>
          <a:blip r:embed="rId4"/>
          <a:stretch>
            <a:fillRect/>
          </a:stretch>
        </p:blipFill>
        <p:spPr>
          <a:xfrm>
            <a:off x="10865358" y="1767078"/>
            <a:ext cx="251460" cy="251460"/>
          </a:xfrm>
          <a:prstGeom prst="rect">
            <a:avLst/>
          </a:prstGeom>
        </p:spPr>
      </p:pic>
      <p:sp>
        <p:nvSpPr>
          <p:cNvPr id="29" name="Text 23"/>
          <p:cNvSpPr/>
          <p:nvPr/>
        </p:nvSpPr>
        <p:spPr>
          <a:xfrm>
            <a:off x="8887968" y="2121408"/>
            <a:ext cx="2331720" cy="320040"/>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Aprendiz</a:t>
            </a:r>
            <a:endParaRPr lang="en-US" sz="1300" dirty="0"/>
          </a:p>
        </p:txBody>
      </p:sp>
      <p:sp>
        <p:nvSpPr>
          <p:cNvPr id="30" name="Text 24"/>
          <p:cNvSpPr/>
          <p:nvPr/>
        </p:nvSpPr>
        <p:spPr>
          <a:xfrm>
            <a:off x="8887968" y="2441448"/>
            <a:ext cx="2331720" cy="256032"/>
          </a:xfrm>
          <a:prstGeom prst="rect">
            <a:avLst/>
          </a:prstGeom>
          <a:noFill/>
          <a:ln/>
        </p:spPr>
        <p:txBody>
          <a:bodyPr wrap="square" lIns="0" tIns="0" rIns="0" bIns="0" rtlCol="0" anchor="ctr"/>
          <a:lstStyle/>
          <a:p>
            <a:pPr indent="0" marL="0">
              <a:buNone/>
            </a:pPr>
            <a:r>
              <a:rPr lang="en-US" sz="950" b="1" dirty="0">
                <a:solidFill>
                  <a:srgbClr val="2C8500"/>
                </a:solidFill>
                <a:latin typeface="Calibri" pitchFamily="34" charset="0"/>
                <a:ea typeface="Calibri" pitchFamily="34" charset="-122"/>
                <a:cs typeface="Calibri" pitchFamily="34" charset="-120"/>
              </a:rPr>
              <a:t>Pantallas 25–28</a:t>
            </a:r>
            <a:endParaRPr lang="en-US" sz="950" dirty="0"/>
          </a:p>
        </p:txBody>
      </p:sp>
      <p:sp>
        <p:nvSpPr>
          <p:cNvPr id="31" name="Text 25"/>
          <p:cNvSpPr/>
          <p:nvPr/>
        </p:nvSpPr>
        <p:spPr>
          <a:xfrm>
            <a:off x="8887968" y="2724912"/>
            <a:ext cx="2331720" cy="640080"/>
          </a:xfrm>
          <a:prstGeom prst="rect">
            <a:avLst/>
          </a:prstGeom>
          <a:noFill/>
          <a:ln/>
        </p:spPr>
        <p:txBody>
          <a:bodyPr wrap="square" lIns="0" tIns="0" rIns="0" bIns="0" rtlCol="0" anchor="ctr"/>
          <a:lstStyle/>
          <a:p>
            <a:pPr indent="0" marL="0">
              <a:buNone/>
            </a:pPr>
            <a:r>
              <a:rPr lang="en-US" sz="950" dirty="0">
                <a:solidFill>
                  <a:srgbClr val="1E1E1E"/>
                </a:solidFill>
                <a:latin typeface="Calibri" pitchFamily="34" charset="0"/>
                <a:ea typeface="Calibri" pitchFamily="34" charset="-122"/>
                <a:cs typeface="Calibri" pitchFamily="34" charset="-120"/>
              </a:rPr>
              <a:t>Horario propio, detalle de salón y notificaciones.</a:t>
            </a:r>
            <a:endParaRPr lang="en-US" sz="950" dirty="0"/>
          </a:p>
        </p:txBody>
      </p:sp>
      <p:sp>
        <p:nvSpPr>
          <p:cNvPr id="32" name="Shape 26"/>
          <p:cNvSpPr/>
          <p:nvPr/>
        </p:nvSpPr>
        <p:spPr>
          <a:xfrm>
            <a:off x="1915668" y="3575304"/>
            <a:ext cx="2606040" cy="1874520"/>
          </a:xfrm>
          <a:prstGeom prst="roundRect">
            <a:avLst>
              <a:gd name="adj" fmla="val 4878"/>
            </a:avLst>
          </a:prstGeom>
          <a:solidFill>
            <a:srgbClr val="FFFFFF"/>
          </a:solidFill>
          <a:ln/>
          <a:effectLst>
            <a:outerShdw sx="100000" sy="100000" kx="0" ky="0" algn="bl" rotWithShape="0" blurRad="76200" dist="25400" dir="5400000">
              <a:srgbClr val="000000">
                <a:alpha val="13000"/>
              </a:srgbClr>
            </a:outerShdw>
          </a:effectLst>
        </p:spPr>
      </p:sp>
      <p:sp>
        <p:nvSpPr>
          <p:cNvPr id="33" name="Text 27"/>
          <p:cNvSpPr/>
          <p:nvPr/>
        </p:nvSpPr>
        <p:spPr>
          <a:xfrm>
            <a:off x="2052828" y="3648456"/>
            <a:ext cx="640080" cy="365760"/>
          </a:xfrm>
          <a:prstGeom prst="rect">
            <a:avLst/>
          </a:prstGeom>
          <a:noFill/>
          <a:ln/>
        </p:spPr>
        <p:txBody>
          <a:bodyPr wrap="square" lIns="0" tIns="0" rIns="0" bIns="0" rtlCol="0" anchor="ctr"/>
          <a:lstStyle/>
          <a:p>
            <a:pPr indent="0" marL="0">
              <a:buNone/>
            </a:pPr>
            <a:r>
              <a:rPr lang="en-US" sz="1600" b="1" dirty="0">
                <a:solidFill>
                  <a:srgbClr val="D3D9DE"/>
                </a:solidFill>
                <a:latin typeface="Cambria" pitchFamily="34" charset="0"/>
                <a:ea typeface="Cambria" pitchFamily="34" charset="-122"/>
                <a:cs typeface="Cambria" pitchFamily="34" charset="-120"/>
              </a:rPr>
              <a:t>05</a:t>
            </a:r>
            <a:endParaRPr lang="en-US" sz="1600" dirty="0"/>
          </a:p>
        </p:txBody>
      </p:sp>
      <p:sp>
        <p:nvSpPr>
          <p:cNvPr id="34" name="Shape 28"/>
          <p:cNvSpPr/>
          <p:nvPr/>
        </p:nvSpPr>
        <p:spPr>
          <a:xfrm>
            <a:off x="3927348" y="3685032"/>
            <a:ext cx="457200" cy="457200"/>
          </a:xfrm>
          <a:prstGeom prst="ellipse">
            <a:avLst/>
          </a:prstGeom>
          <a:solidFill>
            <a:srgbClr val="39A900"/>
          </a:solidFill>
          <a:ln/>
        </p:spPr>
      </p:sp>
      <p:pic>
        <p:nvPicPr>
          <p:cNvPr id="35" name="Image 4" descr="icons/usertie.png">    </p:cNvPr>
          <p:cNvPicPr>
            <a:picLocks noChangeAspect="1"/>
          </p:cNvPicPr>
          <p:nvPr/>
        </p:nvPicPr>
        <p:blipFill>
          <a:blip r:embed="rId5"/>
          <a:stretch>
            <a:fillRect/>
          </a:stretch>
        </p:blipFill>
        <p:spPr>
          <a:xfrm>
            <a:off x="4030218" y="3787902"/>
            <a:ext cx="251460" cy="251460"/>
          </a:xfrm>
          <a:prstGeom prst="rect">
            <a:avLst/>
          </a:prstGeom>
        </p:spPr>
      </p:pic>
      <p:sp>
        <p:nvSpPr>
          <p:cNvPr id="36" name="Text 29"/>
          <p:cNvSpPr/>
          <p:nvPr/>
        </p:nvSpPr>
        <p:spPr>
          <a:xfrm>
            <a:off x="2052828" y="4142232"/>
            <a:ext cx="2331720" cy="320040"/>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Director</a:t>
            </a:r>
            <a:endParaRPr lang="en-US" sz="1300" dirty="0"/>
          </a:p>
        </p:txBody>
      </p:sp>
      <p:sp>
        <p:nvSpPr>
          <p:cNvPr id="37" name="Text 30"/>
          <p:cNvSpPr/>
          <p:nvPr/>
        </p:nvSpPr>
        <p:spPr>
          <a:xfrm>
            <a:off x="2052828" y="4462272"/>
            <a:ext cx="2331720" cy="256032"/>
          </a:xfrm>
          <a:prstGeom prst="rect">
            <a:avLst/>
          </a:prstGeom>
          <a:noFill/>
          <a:ln/>
        </p:spPr>
        <p:txBody>
          <a:bodyPr wrap="square" lIns="0" tIns="0" rIns="0" bIns="0" rtlCol="0" anchor="ctr"/>
          <a:lstStyle/>
          <a:p>
            <a:pPr indent="0" marL="0">
              <a:buNone/>
            </a:pPr>
            <a:r>
              <a:rPr lang="en-US" sz="950" b="1" dirty="0">
                <a:solidFill>
                  <a:srgbClr val="2C8500"/>
                </a:solidFill>
                <a:latin typeface="Calibri" pitchFamily="34" charset="0"/>
                <a:ea typeface="Calibri" pitchFamily="34" charset="-122"/>
                <a:cs typeface="Calibri" pitchFamily="34" charset="-120"/>
              </a:rPr>
              <a:t>Pantallas 29–36</a:t>
            </a:r>
            <a:endParaRPr lang="en-US" sz="950" dirty="0"/>
          </a:p>
        </p:txBody>
      </p:sp>
      <p:sp>
        <p:nvSpPr>
          <p:cNvPr id="38" name="Text 31"/>
          <p:cNvSpPr/>
          <p:nvPr/>
        </p:nvSpPr>
        <p:spPr>
          <a:xfrm>
            <a:off x="2052828" y="4745736"/>
            <a:ext cx="2331720" cy="640080"/>
          </a:xfrm>
          <a:prstGeom prst="rect">
            <a:avLst/>
          </a:prstGeom>
          <a:noFill/>
          <a:ln/>
        </p:spPr>
        <p:txBody>
          <a:bodyPr wrap="square" lIns="0" tIns="0" rIns="0" bIns="0" rtlCol="0" anchor="ctr"/>
          <a:lstStyle/>
          <a:p>
            <a:pPr indent="0" marL="0">
              <a:buNone/>
            </a:pPr>
            <a:r>
              <a:rPr lang="en-US" sz="950" dirty="0">
                <a:solidFill>
                  <a:srgbClr val="1E1E1E"/>
                </a:solidFill>
                <a:latin typeface="Calibri" pitchFamily="34" charset="0"/>
                <a:ea typeface="Calibri" pitchFamily="34" charset="-122"/>
                <a:cs typeface="Calibri" pitchFamily="34" charset="-120"/>
              </a:rPr>
              <a:t>Semáforos de KPI, gráficas de riesgo y usuarios.</a:t>
            </a:r>
            <a:endParaRPr lang="en-US" sz="950" dirty="0"/>
          </a:p>
        </p:txBody>
      </p:sp>
      <p:sp>
        <p:nvSpPr>
          <p:cNvPr id="39" name="Shape 32"/>
          <p:cNvSpPr/>
          <p:nvPr/>
        </p:nvSpPr>
        <p:spPr>
          <a:xfrm>
            <a:off x="4649724" y="3575304"/>
            <a:ext cx="2606040" cy="1874520"/>
          </a:xfrm>
          <a:prstGeom prst="roundRect">
            <a:avLst>
              <a:gd name="adj" fmla="val 4878"/>
            </a:avLst>
          </a:prstGeom>
          <a:solidFill>
            <a:srgbClr val="FFFFFF"/>
          </a:solidFill>
          <a:ln/>
          <a:effectLst>
            <a:outerShdw sx="100000" sy="100000" kx="0" ky="0" algn="bl" rotWithShape="0" blurRad="76200" dist="25400" dir="5400000">
              <a:srgbClr val="000000">
                <a:alpha val="13000"/>
              </a:srgbClr>
            </a:outerShdw>
          </a:effectLst>
        </p:spPr>
      </p:sp>
      <p:sp>
        <p:nvSpPr>
          <p:cNvPr id="40" name="Text 33"/>
          <p:cNvSpPr/>
          <p:nvPr/>
        </p:nvSpPr>
        <p:spPr>
          <a:xfrm>
            <a:off x="4786884" y="3648456"/>
            <a:ext cx="640080" cy="365760"/>
          </a:xfrm>
          <a:prstGeom prst="rect">
            <a:avLst/>
          </a:prstGeom>
          <a:noFill/>
          <a:ln/>
        </p:spPr>
        <p:txBody>
          <a:bodyPr wrap="square" lIns="0" tIns="0" rIns="0" bIns="0" rtlCol="0" anchor="ctr"/>
          <a:lstStyle/>
          <a:p>
            <a:pPr indent="0" marL="0">
              <a:buNone/>
            </a:pPr>
            <a:r>
              <a:rPr lang="en-US" sz="1600" b="1" dirty="0">
                <a:solidFill>
                  <a:srgbClr val="D3D9DE"/>
                </a:solidFill>
                <a:latin typeface="Cambria" pitchFamily="34" charset="0"/>
                <a:ea typeface="Cambria" pitchFamily="34" charset="-122"/>
                <a:cs typeface="Cambria" pitchFamily="34" charset="-120"/>
              </a:rPr>
              <a:t>06</a:t>
            </a:r>
            <a:endParaRPr lang="en-US" sz="1600" dirty="0"/>
          </a:p>
        </p:txBody>
      </p:sp>
      <p:sp>
        <p:nvSpPr>
          <p:cNvPr id="41" name="Shape 34"/>
          <p:cNvSpPr/>
          <p:nvPr/>
        </p:nvSpPr>
        <p:spPr>
          <a:xfrm>
            <a:off x="6661404" y="3685032"/>
            <a:ext cx="457200" cy="457200"/>
          </a:xfrm>
          <a:prstGeom prst="ellipse">
            <a:avLst/>
          </a:prstGeom>
          <a:solidFill>
            <a:srgbClr val="39A900"/>
          </a:solidFill>
          <a:ln/>
        </p:spPr>
      </p:sp>
      <p:pic>
        <p:nvPicPr>
          <p:cNvPr id="42" name="Image 5" descr="icons/server.png">    </p:cNvPr>
          <p:cNvPicPr>
            <a:picLocks noChangeAspect="1"/>
          </p:cNvPicPr>
          <p:nvPr/>
        </p:nvPicPr>
        <p:blipFill>
          <a:blip r:embed="rId6"/>
          <a:stretch>
            <a:fillRect/>
          </a:stretch>
        </p:blipFill>
        <p:spPr>
          <a:xfrm>
            <a:off x="6764274" y="3787902"/>
            <a:ext cx="251460" cy="251460"/>
          </a:xfrm>
          <a:prstGeom prst="rect">
            <a:avLst/>
          </a:prstGeom>
        </p:spPr>
      </p:pic>
      <p:sp>
        <p:nvSpPr>
          <p:cNvPr id="43" name="Text 35"/>
          <p:cNvSpPr/>
          <p:nvPr/>
        </p:nvSpPr>
        <p:spPr>
          <a:xfrm>
            <a:off x="4786884" y="4142232"/>
            <a:ext cx="2331720" cy="320040"/>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Back-Office</a:t>
            </a:r>
            <a:endParaRPr lang="en-US" sz="1300" dirty="0"/>
          </a:p>
        </p:txBody>
      </p:sp>
      <p:sp>
        <p:nvSpPr>
          <p:cNvPr id="44" name="Text 36"/>
          <p:cNvSpPr/>
          <p:nvPr/>
        </p:nvSpPr>
        <p:spPr>
          <a:xfrm>
            <a:off x="4786884" y="4462272"/>
            <a:ext cx="2331720" cy="256032"/>
          </a:xfrm>
          <a:prstGeom prst="rect">
            <a:avLst/>
          </a:prstGeom>
          <a:noFill/>
          <a:ln/>
        </p:spPr>
        <p:txBody>
          <a:bodyPr wrap="square" lIns="0" tIns="0" rIns="0" bIns="0" rtlCol="0" anchor="ctr"/>
          <a:lstStyle/>
          <a:p>
            <a:pPr indent="0" marL="0">
              <a:buNone/>
            </a:pPr>
            <a:r>
              <a:rPr lang="en-US" sz="950" b="1" dirty="0">
                <a:solidFill>
                  <a:srgbClr val="2C8500"/>
                </a:solidFill>
                <a:latin typeface="Calibri" pitchFamily="34" charset="0"/>
                <a:ea typeface="Calibri" pitchFamily="34" charset="-122"/>
                <a:cs typeface="Calibri" pitchFamily="34" charset="-120"/>
              </a:rPr>
              <a:t>Pantallas 37–45</a:t>
            </a:r>
            <a:endParaRPr lang="en-US" sz="950" dirty="0"/>
          </a:p>
        </p:txBody>
      </p:sp>
      <p:sp>
        <p:nvSpPr>
          <p:cNvPr id="45" name="Text 37"/>
          <p:cNvSpPr/>
          <p:nvPr/>
        </p:nvSpPr>
        <p:spPr>
          <a:xfrm>
            <a:off x="4786884" y="4745736"/>
            <a:ext cx="2331720" cy="640080"/>
          </a:xfrm>
          <a:prstGeom prst="rect">
            <a:avLst/>
          </a:prstGeom>
          <a:noFill/>
          <a:ln/>
        </p:spPr>
        <p:txBody>
          <a:bodyPr wrap="square" lIns="0" tIns="0" rIns="0" bIns="0" rtlCol="0" anchor="ctr"/>
          <a:lstStyle/>
          <a:p>
            <a:pPr indent="0" marL="0">
              <a:buNone/>
            </a:pPr>
            <a:r>
              <a:rPr lang="en-US" sz="950" dirty="0">
                <a:solidFill>
                  <a:srgbClr val="1E1E1E"/>
                </a:solidFill>
                <a:latin typeface="Calibri" pitchFamily="34" charset="0"/>
                <a:ea typeface="Calibri" pitchFamily="34" charset="-122"/>
                <a:cs typeface="Calibri" pitchFamily="34" charset="-120"/>
              </a:rPr>
              <a:t>Descarga de constancias, plantillas y auditoría.</a:t>
            </a:r>
            <a:endParaRPr lang="en-US" sz="950" dirty="0"/>
          </a:p>
        </p:txBody>
      </p:sp>
      <p:sp>
        <p:nvSpPr>
          <p:cNvPr id="46" name="Shape 38"/>
          <p:cNvSpPr/>
          <p:nvPr/>
        </p:nvSpPr>
        <p:spPr>
          <a:xfrm>
            <a:off x="7383780" y="3575304"/>
            <a:ext cx="2606040" cy="1874520"/>
          </a:xfrm>
          <a:prstGeom prst="roundRect">
            <a:avLst>
              <a:gd name="adj" fmla="val 4878"/>
            </a:avLst>
          </a:prstGeom>
          <a:solidFill>
            <a:srgbClr val="FFFFFF"/>
          </a:solidFill>
          <a:ln/>
          <a:effectLst>
            <a:outerShdw sx="100000" sy="100000" kx="0" ky="0" algn="bl" rotWithShape="0" blurRad="76200" dist="25400" dir="5400000">
              <a:srgbClr val="000000">
                <a:alpha val="13000"/>
              </a:srgbClr>
            </a:outerShdw>
          </a:effectLst>
        </p:spPr>
      </p:sp>
      <p:sp>
        <p:nvSpPr>
          <p:cNvPr id="47" name="Text 39"/>
          <p:cNvSpPr/>
          <p:nvPr/>
        </p:nvSpPr>
        <p:spPr>
          <a:xfrm>
            <a:off x="7520940" y="3648456"/>
            <a:ext cx="640080" cy="365760"/>
          </a:xfrm>
          <a:prstGeom prst="rect">
            <a:avLst/>
          </a:prstGeom>
          <a:noFill/>
          <a:ln/>
        </p:spPr>
        <p:txBody>
          <a:bodyPr wrap="square" lIns="0" tIns="0" rIns="0" bIns="0" rtlCol="0" anchor="ctr"/>
          <a:lstStyle/>
          <a:p>
            <a:pPr indent="0" marL="0">
              <a:buNone/>
            </a:pPr>
            <a:r>
              <a:rPr lang="en-US" sz="1600" b="1" dirty="0">
                <a:solidFill>
                  <a:srgbClr val="D3D9DE"/>
                </a:solidFill>
                <a:latin typeface="Cambria" pitchFamily="34" charset="0"/>
                <a:ea typeface="Cambria" pitchFamily="34" charset="-122"/>
                <a:cs typeface="Cambria" pitchFamily="34" charset="-120"/>
              </a:rPr>
              <a:t>07</a:t>
            </a:r>
            <a:endParaRPr lang="en-US" sz="1600" dirty="0"/>
          </a:p>
        </p:txBody>
      </p:sp>
      <p:sp>
        <p:nvSpPr>
          <p:cNvPr id="48" name="Shape 40"/>
          <p:cNvSpPr/>
          <p:nvPr/>
        </p:nvSpPr>
        <p:spPr>
          <a:xfrm>
            <a:off x="9395460" y="3685032"/>
            <a:ext cx="457200" cy="457200"/>
          </a:xfrm>
          <a:prstGeom prst="ellipse">
            <a:avLst/>
          </a:prstGeom>
          <a:solidFill>
            <a:srgbClr val="39A900"/>
          </a:solidFill>
          <a:ln/>
        </p:spPr>
      </p:sp>
      <p:pic>
        <p:nvPicPr>
          <p:cNvPr id="49" name="Image 6" descr="icons/sliders.png">    </p:cNvPr>
          <p:cNvPicPr>
            <a:picLocks noChangeAspect="1"/>
          </p:cNvPicPr>
          <p:nvPr/>
        </p:nvPicPr>
        <p:blipFill>
          <a:blip r:embed="rId7"/>
          <a:stretch>
            <a:fillRect/>
          </a:stretch>
        </p:blipFill>
        <p:spPr>
          <a:xfrm>
            <a:off x="9498330" y="3787902"/>
            <a:ext cx="251460" cy="251460"/>
          </a:xfrm>
          <a:prstGeom prst="rect">
            <a:avLst/>
          </a:prstGeom>
        </p:spPr>
      </p:pic>
      <p:sp>
        <p:nvSpPr>
          <p:cNvPr id="50" name="Text 41"/>
          <p:cNvSpPr/>
          <p:nvPr/>
        </p:nvSpPr>
        <p:spPr>
          <a:xfrm>
            <a:off x="7520940" y="4142232"/>
            <a:ext cx="2331720" cy="320040"/>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Parametrización</a:t>
            </a:r>
            <a:endParaRPr lang="en-US" sz="1300" dirty="0"/>
          </a:p>
        </p:txBody>
      </p:sp>
      <p:sp>
        <p:nvSpPr>
          <p:cNvPr id="51" name="Text 42"/>
          <p:cNvSpPr/>
          <p:nvPr/>
        </p:nvSpPr>
        <p:spPr>
          <a:xfrm>
            <a:off x="7520940" y="4462272"/>
            <a:ext cx="2331720" cy="256032"/>
          </a:xfrm>
          <a:prstGeom prst="rect">
            <a:avLst/>
          </a:prstGeom>
          <a:noFill/>
          <a:ln/>
        </p:spPr>
        <p:txBody>
          <a:bodyPr wrap="square" lIns="0" tIns="0" rIns="0" bIns="0" rtlCol="0" anchor="ctr"/>
          <a:lstStyle/>
          <a:p>
            <a:pPr indent="0" marL="0">
              <a:buNone/>
            </a:pPr>
            <a:r>
              <a:rPr lang="en-US" sz="950" b="1" dirty="0">
                <a:solidFill>
                  <a:srgbClr val="2C8500"/>
                </a:solidFill>
                <a:latin typeface="Calibri" pitchFamily="34" charset="0"/>
                <a:ea typeface="Calibri" pitchFamily="34" charset="-122"/>
                <a:cs typeface="Calibri" pitchFamily="34" charset="-120"/>
              </a:rPr>
              <a:t>Pantallas 46–53</a:t>
            </a:r>
            <a:endParaRPr lang="en-US" sz="950" dirty="0"/>
          </a:p>
        </p:txBody>
      </p:sp>
      <p:sp>
        <p:nvSpPr>
          <p:cNvPr id="52" name="Text 43"/>
          <p:cNvSpPr/>
          <p:nvPr/>
        </p:nvSpPr>
        <p:spPr>
          <a:xfrm>
            <a:off x="7520940" y="4745736"/>
            <a:ext cx="2331720" cy="640080"/>
          </a:xfrm>
          <a:prstGeom prst="rect">
            <a:avLst/>
          </a:prstGeom>
          <a:noFill/>
          <a:ln/>
        </p:spPr>
        <p:txBody>
          <a:bodyPr wrap="square" lIns="0" tIns="0" rIns="0" bIns="0" rtlCol="0" anchor="ctr"/>
          <a:lstStyle/>
          <a:p>
            <a:pPr indent="0" marL="0">
              <a:buNone/>
            </a:pPr>
            <a:r>
              <a:rPr lang="en-US" sz="950" dirty="0">
                <a:solidFill>
                  <a:srgbClr val="1E1E1E"/>
                </a:solidFill>
                <a:latin typeface="Calibri" pitchFamily="34" charset="0"/>
                <a:ea typeface="Calibri" pitchFamily="34" charset="-122"/>
                <a:cs typeface="Calibri" pitchFamily="34" charset="-120"/>
              </a:rPr>
              <a:t>Carreras, materias, jornadas, tipos de aula y sedes.</a:t>
            </a:r>
            <a:endParaRPr lang="en-US" sz="950" dirty="0"/>
          </a:p>
        </p:txBody>
      </p:sp>
      <p:sp>
        <p:nvSpPr>
          <p:cNvPr id="53" name="Text 44"/>
          <p:cNvSpPr/>
          <p:nvPr/>
        </p:nvSpPr>
        <p:spPr>
          <a:xfrm>
            <a:off x="457200" y="6492240"/>
            <a:ext cx="5486400" cy="274320"/>
          </a:xfrm>
          <a:prstGeom prst="rect">
            <a:avLst/>
          </a:prstGeom>
          <a:noFill/>
          <a:ln/>
        </p:spPr>
        <p:txBody>
          <a:bodyPr wrap="square" rtlCol="0" anchor="ctr"/>
          <a:lstStyle/>
          <a:p>
            <a:pPr algn="l" indent="0" marL="0">
              <a:buNone/>
            </a:pPr>
            <a:r>
              <a:rPr lang="en-US" sz="1000" dirty="0">
                <a:solidFill>
                  <a:srgbClr val="5B6570"/>
                </a:solidFill>
                <a:latin typeface="Calibri" pitchFamily="34" charset="0"/>
                <a:ea typeface="Calibri" pitchFamily="34" charset="-122"/>
                <a:cs typeface="Calibri" pitchFamily="34" charset="-120"/>
              </a:rPr>
              <a:t>SENA — Gestión de Horarios</a:t>
            </a:r>
            <a:endParaRPr lang="en-US" sz="1000" dirty="0"/>
          </a:p>
        </p:txBody>
      </p:sp>
      <p:sp>
        <p:nvSpPr>
          <p:cNvPr id="54" name="Text 45"/>
          <p:cNvSpPr/>
          <p:nvPr/>
        </p:nvSpPr>
        <p:spPr>
          <a:xfrm>
            <a:off x="11274552" y="6492240"/>
            <a:ext cx="457200" cy="274320"/>
          </a:xfrm>
          <a:prstGeom prst="rect">
            <a:avLst/>
          </a:prstGeom>
          <a:noFill/>
          <a:ln/>
        </p:spPr>
        <p:txBody>
          <a:bodyPr wrap="square"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3203A"/>
          </a:solidFill>
          <a:ln/>
        </p:spPr>
      </p:sp>
      <p:sp>
        <p:nvSpPr>
          <p:cNvPr id="3" name="Shape 1"/>
          <p:cNvSpPr/>
          <p:nvPr/>
        </p:nvSpPr>
        <p:spPr>
          <a:xfrm>
            <a:off x="-1280160" y="4206240"/>
            <a:ext cx="2926080" cy="2926080"/>
          </a:xfrm>
          <a:prstGeom prst="ellipse">
            <a:avLst/>
          </a:prstGeom>
          <a:solidFill>
            <a:srgbClr val="13203A"/>
          </a:solidFill>
          <a:ln/>
        </p:spPr>
      </p:sp>
      <p:sp>
        <p:nvSpPr>
          <p:cNvPr id="4" name="Text 2"/>
          <p:cNvSpPr/>
          <p:nvPr/>
        </p:nvSpPr>
        <p:spPr>
          <a:xfrm>
            <a:off x="548640" y="384048"/>
            <a:ext cx="9144000" cy="320040"/>
          </a:xfrm>
          <a:prstGeom prst="rect">
            <a:avLst/>
          </a:prstGeom>
          <a:noFill/>
          <a:ln/>
        </p:spPr>
        <p:txBody>
          <a:bodyPr wrap="square" rtlCol="0" anchor="ctr"/>
          <a:lstStyle/>
          <a:p>
            <a:pPr indent="0" marL="0">
              <a:buNone/>
            </a:pPr>
            <a:r>
              <a:rPr lang="en-US" sz="1400" b="1" spc="200" kern="0" dirty="0">
                <a:solidFill>
                  <a:srgbClr val="39A900"/>
                </a:solidFill>
                <a:latin typeface="Calibri" pitchFamily="34" charset="0"/>
                <a:ea typeface="Calibri" pitchFamily="34" charset="-122"/>
                <a:cs typeface="Calibri" pitchFamily="34" charset="-120"/>
              </a:rPr>
              <a:t>CIERRE</a:t>
            </a:r>
            <a:endParaRPr lang="en-US" sz="1400" dirty="0"/>
          </a:p>
        </p:txBody>
      </p:sp>
      <p:sp>
        <p:nvSpPr>
          <p:cNvPr id="5" name="Text 3"/>
          <p:cNvSpPr/>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Conclusiones y beneficios para el SENA</a:t>
            </a:r>
            <a:endParaRPr lang="en-US" sz="3200" dirty="0"/>
          </a:p>
        </p:txBody>
      </p:sp>
      <p:sp>
        <p:nvSpPr>
          <p:cNvPr id="6" name="Shape 4"/>
          <p:cNvSpPr/>
          <p:nvPr/>
        </p:nvSpPr>
        <p:spPr>
          <a:xfrm>
            <a:off x="548640" y="1965960"/>
            <a:ext cx="3337560" cy="3383280"/>
          </a:xfrm>
          <a:prstGeom prst="roundRect">
            <a:avLst>
              <a:gd name="adj" fmla="val 3288"/>
            </a:avLst>
          </a:prstGeom>
          <a:solidFill>
            <a:srgbClr val="13203A"/>
          </a:solidFill>
          <a:ln/>
        </p:spPr>
      </p:sp>
      <p:sp>
        <p:nvSpPr>
          <p:cNvPr id="7" name="Shape 5"/>
          <p:cNvSpPr/>
          <p:nvPr/>
        </p:nvSpPr>
        <p:spPr>
          <a:xfrm>
            <a:off x="1805940" y="2331720"/>
            <a:ext cx="822960" cy="822960"/>
          </a:xfrm>
          <a:prstGeom prst="ellipse">
            <a:avLst/>
          </a:prstGeom>
          <a:solidFill>
            <a:srgbClr val="39A900"/>
          </a:solidFill>
          <a:ln/>
        </p:spPr>
      </p:sp>
      <p:pic>
        <p:nvPicPr>
          <p:cNvPr id="8" name="Image 0" descr="icons/bolt.png">    </p:cNvPr>
          <p:cNvPicPr>
            <a:picLocks noChangeAspect="1"/>
          </p:cNvPicPr>
          <p:nvPr/>
        </p:nvPicPr>
        <p:blipFill>
          <a:blip r:embed="rId1"/>
          <a:stretch>
            <a:fillRect/>
          </a:stretch>
        </p:blipFill>
        <p:spPr>
          <a:xfrm>
            <a:off x="2003450" y="2529230"/>
            <a:ext cx="427939" cy="427939"/>
          </a:xfrm>
          <a:prstGeom prst="rect">
            <a:avLst/>
          </a:prstGeom>
        </p:spPr>
      </p:pic>
      <p:sp>
        <p:nvSpPr>
          <p:cNvPr id="9" name="Text 6"/>
          <p:cNvSpPr/>
          <p:nvPr/>
        </p:nvSpPr>
        <p:spPr>
          <a:xfrm>
            <a:off x="777240" y="3383280"/>
            <a:ext cx="288036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mbria" pitchFamily="34" charset="0"/>
                <a:ea typeface="Cambria" pitchFamily="34" charset="-122"/>
                <a:cs typeface="Cambria" pitchFamily="34" charset="-120"/>
              </a:rPr>
              <a:t>Eficiencia total</a:t>
            </a:r>
            <a:endParaRPr lang="en-US" sz="1650" dirty="0"/>
          </a:p>
        </p:txBody>
      </p:sp>
      <p:sp>
        <p:nvSpPr>
          <p:cNvPr id="10" name="Text 7"/>
          <p:cNvSpPr/>
          <p:nvPr/>
        </p:nvSpPr>
        <p:spPr>
          <a:xfrm>
            <a:off x="822960" y="3931920"/>
            <a:ext cx="2788920" cy="1280160"/>
          </a:xfrm>
          <a:prstGeom prst="rect">
            <a:avLst/>
          </a:prstGeom>
          <a:noFill/>
          <a:ln/>
        </p:spPr>
        <p:txBody>
          <a:bodyPr wrap="square" lIns="0" tIns="0" rIns="0" bIns="0" rtlCol="0" anchor="ctr"/>
          <a:lstStyle/>
          <a:p>
            <a:pPr algn="ctr" indent="0" marL="0">
              <a:buNone/>
            </a:pPr>
            <a:r>
              <a:rPr lang="en-US" sz="1250" dirty="0">
                <a:solidFill>
                  <a:srgbClr val="CBD5DE"/>
                </a:solidFill>
                <a:latin typeface="Calibri" pitchFamily="34" charset="0"/>
                <a:ea typeface="Calibri" pitchFamily="34" charset="-122"/>
                <a:cs typeface="Calibri" pitchFamily="34" charset="-120"/>
              </a:rPr>
              <a:t>Ahorro de días enteros de trabajo manual y aprovechamiento al 100% de las aulas.</a:t>
            </a:r>
            <a:endParaRPr lang="en-US" sz="1250" dirty="0"/>
          </a:p>
        </p:txBody>
      </p:sp>
      <p:sp>
        <p:nvSpPr>
          <p:cNvPr id="11" name="Shape 8"/>
          <p:cNvSpPr/>
          <p:nvPr/>
        </p:nvSpPr>
        <p:spPr>
          <a:xfrm>
            <a:off x="4206240" y="1965960"/>
            <a:ext cx="3337560" cy="3383280"/>
          </a:xfrm>
          <a:prstGeom prst="roundRect">
            <a:avLst>
              <a:gd name="adj" fmla="val 3288"/>
            </a:avLst>
          </a:prstGeom>
          <a:solidFill>
            <a:srgbClr val="13203A"/>
          </a:solidFill>
          <a:ln/>
        </p:spPr>
      </p:sp>
      <p:sp>
        <p:nvSpPr>
          <p:cNvPr id="12" name="Shape 9"/>
          <p:cNvSpPr/>
          <p:nvPr/>
        </p:nvSpPr>
        <p:spPr>
          <a:xfrm>
            <a:off x="5463540" y="2331720"/>
            <a:ext cx="822960" cy="822960"/>
          </a:xfrm>
          <a:prstGeom prst="ellipse">
            <a:avLst/>
          </a:prstGeom>
          <a:solidFill>
            <a:srgbClr val="39A900"/>
          </a:solidFill>
          <a:ln/>
        </p:spPr>
      </p:sp>
      <p:pic>
        <p:nvPicPr>
          <p:cNvPr id="13" name="Image 1" descr="icons/bullseye.png">    </p:cNvPr>
          <p:cNvPicPr>
            <a:picLocks noChangeAspect="1"/>
          </p:cNvPicPr>
          <p:nvPr/>
        </p:nvPicPr>
        <p:blipFill>
          <a:blip r:embed="rId2"/>
          <a:stretch>
            <a:fillRect/>
          </a:stretch>
        </p:blipFill>
        <p:spPr>
          <a:xfrm>
            <a:off x="5661050" y="2529230"/>
            <a:ext cx="427939" cy="427939"/>
          </a:xfrm>
          <a:prstGeom prst="rect">
            <a:avLst/>
          </a:prstGeom>
        </p:spPr>
      </p:pic>
      <p:sp>
        <p:nvSpPr>
          <p:cNvPr id="14" name="Text 10"/>
          <p:cNvSpPr/>
          <p:nvPr/>
        </p:nvSpPr>
        <p:spPr>
          <a:xfrm>
            <a:off x="4434840" y="3383280"/>
            <a:ext cx="288036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mbria" pitchFamily="34" charset="0"/>
                <a:ea typeface="Cambria" pitchFamily="34" charset="-122"/>
                <a:cs typeface="Cambria" pitchFamily="34" charset="-120"/>
              </a:rPr>
              <a:t>Tranquilidad y calidad</a:t>
            </a:r>
            <a:endParaRPr lang="en-US" sz="1650" dirty="0"/>
          </a:p>
        </p:txBody>
      </p:sp>
      <p:sp>
        <p:nvSpPr>
          <p:cNvPr id="15" name="Text 11"/>
          <p:cNvSpPr/>
          <p:nvPr/>
        </p:nvSpPr>
        <p:spPr>
          <a:xfrm>
            <a:off x="4480560" y="3931920"/>
            <a:ext cx="2788920" cy="1280160"/>
          </a:xfrm>
          <a:prstGeom prst="rect">
            <a:avLst/>
          </a:prstGeom>
          <a:noFill/>
          <a:ln/>
        </p:spPr>
        <p:txBody>
          <a:bodyPr wrap="square" lIns="0" tIns="0" rIns="0" bIns="0" rtlCol="0" anchor="ctr"/>
          <a:lstStyle/>
          <a:p>
            <a:pPr algn="ctr" indent="0" marL="0">
              <a:buNone/>
            </a:pPr>
            <a:r>
              <a:rPr lang="en-US" sz="1250" dirty="0">
                <a:solidFill>
                  <a:srgbClr val="CBD5DE"/>
                </a:solidFill>
                <a:latin typeface="Calibri" pitchFamily="34" charset="0"/>
                <a:ea typeface="Calibri" pitchFamily="34" charset="-122"/>
                <a:cs typeface="Calibri" pitchFamily="34" charset="-120"/>
              </a:rPr>
              <a:t>Cero quejas por cruces de horario y prevención temprana de la deserción.</a:t>
            </a:r>
            <a:endParaRPr lang="en-US" sz="1250" dirty="0"/>
          </a:p>
        </p:txBody>
      </p:sp>
      <p:sp>
        <p:nvSpPr>
          <p:cNvPr id="16" name="Shape 12"/>
          <p:cNvSpPr/>
          <p:nvPr/>
        </p:nvSpPr>
        <p:spPr>
          <a:xfrm>
            <a:off x="7863840" y="1965960"/>
            <a:ext cx="3337560" cy="3383280"/>
          </a:xfrm>
          <a:prstGeom prst="roundRect">
            <a:avLst>
              <a:gd name="adj" fmla="val 3288"/>
            </a:avLst>
          </a:prstGeom>
          <a:solidFill>
            <a:srgbClr val="13203A"/>
          </a:solidFill>
          <a:ln/>
        </p:spPr>
      </p:sp>
      <p:sp>
        <p:nvSpPr>
          <p:cNvPr id="17" name="Shape 13"/>
          <p:cNvSpPr/>
          <p:nvPr/>
        </p:nvSpPr>
        <p:spPr>
          <a:xfrm>
            <a:off x="9121140" y="2331720"/>
            <a:ext cx="822960" cy="822960"/>
          </a:xfrm>
          <a:prstGeom prst="ellipse">
            <a:avLst/>
          </a:prstGeom>
          <a:solidFill>
            <a:srgbClr val="39A900"/>
          </a:solidFill>
          <a:ln/>
        </p:spPr>
      </p:sp>
      <p:pic>
        <p:nvPicPr>
          <p:cNvPr id="18" name="Image 2" descr="icons/rocket.png">    </p:cNvPr>
          <p:cNvPicPr>
            <a:picLocks noChangeAspect="1"/>
          </p:cNvPicPr>
          <p:nvPr/>
        </p:nvPicPr>
        <p:blipFill>
          <a:blip r:embed="rId3"/>
          <a:stretch>
            <a:fillRect/>
          </a:stretch>
        </p:blipFill>
        <p:spPr>
          <a:xfrm>
            <a:off x="9318650" y="2529230"/>
            <a:ext cx="427939" cy="427939"/>
          </a:xfrm>
          <a:prstGeom prst="rect">
            <a:avLst/>
          </a:prstGeom>
        </p:spPr>
      </p:pic>
      <p:sp>
        <p:nvSpPr>
          <p:cNvPr id="19" name="Text 14"/>
          <p:cNvSpPr/>
          <p:nvPr/>
        </p:nvSpPr>
        <p:spPr>
          <a:xfrm>
            <a:off x="8092440" y="3383280"/>
            <a:ext cx="288036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mbria" pitchFamily="34" charset="0"/>
                <a:ea typeface="Cambria" pitchFamily="34" charset="-122"/>
                <a:cs typeface="Cambria" pitchFamily="34" charset="-120"/>
              </a:rPr>
              <a:t>Transformación digital</a:t>
            </a:r>
            <a:endParaRPr lang="en-US" sz="1650" dirty="0"/>
          </a:p>
        </p:txBody>
      </p:sp>
      <p:sp>
        <p:nvSpPr>
          <p:cNvPr id="20" name="Text 15"/>
          <p:cNvSpPr/>
          <p:nvPr/>
        </p:nvSpPr>
        <p:spPr>
          <a:xfrm>
            <a:off x="8138160" y="3931920"/>
            <a:ext cx="2788920" cy="1280160"/>
          </a:xfrm>
          <a:prstGeom prst="rect">
            <a:avLst/>
          </a:prstGeom>
          <a:noFill/>
          <a:ln/>
        </p:spPr>
        <p:txBody>
          <a:bodyPr wrap="square" lIns="0" tIns="0" rIns="0" bIns="0" rtlCol="0" anchor="ctr"/>
          <a:lstStyle/>
          <a:p>
            <a:pPr algn="ctr" indent="0" marL="0">
              <a:buNone/>
            </a:pPr>
            <a:r>
              <a:rPr lang="en-US" sz="1250" dirty="0">
                <a:solidFill>
                  <a:srgbClr val="CBD5DE"/>
                </a:solidFill>
                <a:latin typeface="Calibri" pitchFamily="34" charset="0"/>
                <a:ea typeface="Calibri" pitchFamily="34" charset="-122"/>
                <a:cs typeface="Calibri" pitchFamily="34" charset="-120"/>
              </a:rPr>
              <a:t>Una plataforma moderna, accesible desde cualquier dispositivo y lista para operar.</a:t>
            </a:r>
            <a:endParaRPr lang="en-US" sz="1250" dirty="0"/>
          </a:p>
        </p:txBody>
      </p:sp>
      <p:sp>
        <p:nvSpPr>
          <p:cNvPr id="21" name="Text 16"/>
          <p:cNvSpPr/>
          <p:nvPr/>
        </p:nvSpPr>
        <p:spPr>
          <a:xfrm>
            <a:off x="548640" y="5623560"/>
            <a:ext cx="10515600" cy="457200"/>
          </a:xfrm>
          <a:prstGeom prst="rect">
            <a:avLst/>
          </a:prstGeom>
          <a:noFill/>
          <a:ln/>
        </p:spPr>
        <p:txBody>
          <a:bodyPr wrap="square" rtlCol="0" anchor="ctr"/>
          <a:lstStyle/>
          <a:p>
            <a:pPr algn="ctr" indent="0" marL="0">
              <a:buNone/>
            </a:pPr>
            <a:r>
              <a:rPr lang="en-US" sz="1500" i="1" dirty="0">
                <a:solidFill>
                  <a:srgbClr val="CFE8B8"/>
                </a:solidFill>
                <a:latin typeface="Calibri" pitchFamily="34" charset="0"/>
                <a:ea typeface="Calibri" pitchFamily="34" charset="-122"/>
                <a:cs typeface="Calibri" pitchFamily="34" charset="-120"/>
              </a:rPr>
              <a:t>¡Muchas gracias! Quedo abierto a sus preguntas.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2026-08-22T03:51:28Z</dcterms:created>
  <dcterms:modified xsi:type="dcterms:W3CDTF">2026-08-22T03:51:28Z</dcterms:modified>
</cp:coreProperties>
</file>