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1.png"/><Relationship Id="rId3" Type="http://schemas.openxmlformats.org/officeDocument/2006/relationships/image" Target="../media/image-29-1.png"/><Relationship Id="rId4" Type="http://schemas.openxmlformats.org/officeDocument/2006/relationships/image" Target="../media/image-2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1.png"/><Relationship Id="rId3" Type="http://schemas.openxmlformats.org/officeDocument/2006/relationships/image" Target="../media/image-37-1.png"/><Relationship Id="rId4" Type="http://schemas.openxmlformats.org/officeDocument/2006/relationships/image" Target="../media/image-3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1.png"/><Relationship Id="rId3" Type="http://schemas.openxmlformats.org/officeDocument/2006/relationships/image" Target="../media/image-38-1.png"/><Relationship Id="rId4" Type="http://schemas.openxmlformats.org/officeDocument/2006/relationships/image" Target="../media/image-3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12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703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03A1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FORMACIÓN · ADSO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 UX/UI del Sistema de Gestión de Horarios SENA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mockup original, problemas detectados y propuesta de rediseño justificada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188720" cy="0"/>
          </a:xfrm>
          <a:prstGeom prst="line">
            <a:avLst/>
          </a:prstGeom>
          <a:noFill/>
          <a:ln w="38100">
            <a:solidFill>
              <a:srgbClr val="5B8D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 ADSO · Tecnólogo en Análisis y Desarrollo de Software · SENA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y su objetivo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mockup original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8620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pantallas y roles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66344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detectados (UX/UI)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4406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identidad visual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 propuesto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33172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23317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 pantallas clave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310896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31089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rediseñados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388620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388620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y accesibilidad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466344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86600" y="466344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mejoras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544068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86600" y="54406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y su objetivo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mockup original y qué buscamos lograr con este rediseño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proyecto?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mockup navegable del Sistema de Gestión de Horarios del SENA, publicado en GitHub Pages.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en HTML, CSS y JavaScript puro — sin frameworks, sin backend real.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la navegación completa de un sistema real: 53 pantallas y modales recorribles.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como 9 micro-frontends (uno por dominio de negocio) que comparten un mismo sistema de diseño.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instructor nos pidió tomar este mockup y rediseñarlo a nuestro criterio, documentando el resultado en Markdown y ahora en esta presentación.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rediseño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todas las funciones ya confirmadas del mockup original — no eliminamos ninguna capacidad del sistema.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carga cognitiva en las pantallas más densas: horarios, conflictos, indicadores.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procesos que hoy requieren más pasos de los necesarios.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una identidad visual propia, coherente con una institución educativa pública.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la accesibilidad y el comportamiento responsive con criterios concretos.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cada decisión de diseño — nada se cambia "porque sí".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Confirmado vs. Propuesta de rediseño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4B55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CONFIRMADA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Pantallas, roles y módulos que existen en el mockup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Funcionalidades, textos, menús y componentes reales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y navegación tal como están construidos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verificó directamente en el código fuente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55448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00703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54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800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tipografía y nueva identidad visual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Reorganización de la navegación y las pantallas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o simplificación de formularios y flujos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de UX, responsive y accesibilidad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y metodología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analizado: code-sena/design-software-mockup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pública: code-sena.github.io/design-software-mockup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solo navegar visualmente el sitio, revisamos directamente el código fuente (HTML/CSS/JS) para construir un inventario 100% verificado.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afirmación de este documento distingue si es CONFIRMADA (comprobable en el mockup) o una PROPUESTA DE REDISEÑO (decisión de nuestro equipo).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repositorio aclara que solo publica el mockup — la documentación técnica profunda (modelo de datos, RBAC completo) permanece privada.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del mockup original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roles, módulos e inventario completo de pantallas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mockup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(aplicación de una sola página) con enrutamiento por hash — sin build step, sin dependencias externas de frontend.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"micro-frontend": cada dominio de negocio vive en su propia carpeta con su propio archivo screens.js.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visual —colores, tipografía, componentes— vive centralizado en una sola carpeta assets/, compartida por todos los módulos.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 se muestran son simulados (mock-data.js), sin conexión a ninguna API real.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acceso por rol (RBAC) se aplica a nivel de rutas: cada pantalla declara qué roles pueden verla.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5 roles del sistema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9377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confirmada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de inicio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Coordinador Académico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 horarios, disponibilidad y fichas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general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su horario, declara disponibilidad, registra seguimiento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horario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su horario de clases y sus notificaciones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horario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de Centro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indicadores, administra usuarios y datos de 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 indicadores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 de Soporte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 documentos, plantillas, auditoría y parametrización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9 módulos de dominio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5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8205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usuarios, roles y permisos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3880" y="15087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2480" y="17373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0" name="Image 1" descr="/home/claude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82057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97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02480" y="24688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sesiones y conflictos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7680" y="15087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62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15" name="Image 2" descr="/home/claude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90" y="18205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135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36280" y="24688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formación y currículo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1851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34137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0" name="Image 3" descr="/home/claude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349697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33497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68680" y="41452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Ambientes: aulas, labs, talleres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73880" y="31851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2480" y="34137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25" name="Image 4" descr="/home/claude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349697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79720" y="33497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602480" y="41452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instructores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7680" y="31851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36280" y="34137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30" name="Image 5" descr="/home/claude/icons/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490" y="3496970"/>
            <a:ext cx="473659" cy="4736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13520" y="33497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36280" y="41452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generados y plantillas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40080" y="48615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68680" y="50901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35" name="Image 6" descr="/home/claude/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890" y="5173370"/>
            <a:ext cx="473659" cy="47365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45920" y="50261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68680" y="58216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 seguimiento, notificaciones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4373880" y="48615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602480" y="50901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40" name="Image 7" descr="/home/claude/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5690" y="5173370"/>
            <a:ext cx="473659" cy="47365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379720" y="50261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4602480" y="58216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auditoría del sistema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8107680" y="4861560"/>
            <a:ext cx="3413760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8336280" y="50901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45" name="Image 8" descr="/home/claude/icons/slide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9490" y="5173370"/>
            <a:ext cx="473659" cy="473659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13520" y="50261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8336280" y="5821680"/>
            <a:ext cx="2956560" cy="25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y parametrización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mockup en números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y modales verificados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4043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043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6903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dominio (micro-frontends)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078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6938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navegación diferenciada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4113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113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26973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referencia (desktop + móvil)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pantallas por grupo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y shell: 6 pantallas — login, recuperación, estados globales del sistema.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Coordinador: 12 pantallas — horarios, conflictos, disponibilidad, fichas.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6 pantallas — mi horario, disponibilidad, seguimiento.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Aprendiz: 4 pantallas — mi horario y notificaciones.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(Director): 8 pantallas — indicadores, usuarios, datos de referencia.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(Soporte): 9 pantallas — documentos, plantillas, auditoría.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Parametrización: 8 pantallas — hub compartido entre Director y Soporte.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diseño original — tokens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ORIGINAL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marca: verde institucional #007832, con variante hover más oscura.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semánticos estándar: rojo (error/conflicto), naranja (advertencia), verde (éxito), azul (información).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Tipografía: fuente del sistema operativo (system-ui) — sin tipografía personalizada.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espaciado y radios de borde consistentes en toda la aplicación.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definido en un único archivo tokens.css como variables CSS — una sola fuente de verdad visual.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compartidos originales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5" name="Image 0" descr="/home/claude/icons/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8205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estado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estados posibles con color + ícono + texto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38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2480" y="17373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0" name="Image 1" descr="/home/claude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82057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97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genérica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024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formato para todas las listas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76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62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15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90" y="18205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135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362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de búsqueda reutilizables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0" name="Image 3" descr="/home/claude/icons/e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433517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686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emergente accesible (ARIA)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738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2480" y="42519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25" name="Image 4" descr="/home/claude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433517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797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semanal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6024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 horario lunes a viernes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76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36280" y="42519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30" name="Image 5" descr="/home/claude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490" y="4335170"/>
            <a:ext cx="473659" cy="4736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135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/ KPI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362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flotante y tarjeta de indicador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detectados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 al analizar los flujos UX y la interfaz UI del mockup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1 — Flujo fragmentado de modales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ORIGINAL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horario requiere abrir un modal por cada sesión que se agregue.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ficha puede tener 10+ sesiones semanales → 10+ aperturas del mismo modal.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pierde el contexto de lo que ya lleva armado entre modal y modal.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E9F5E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539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modal repetitivo por un panel lateral (drawer) persistente.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 vivo de las sesiones ya agregadas, siempre visible.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arma el horario completo sin cerrar ni reabrir ninguna ventana.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75808" y="35890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pic>
        <p:nvPicPr>
          <p:cNvPr id="10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37261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2 — Conflictos explicados solo en texto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ORIGINAL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conflicto se describe con un párrafo: tipo, horario, fecha y descripción.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revisar varios conflictos seguidos, hay que leer un párrafo por cada uno.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ningún apoyo visual que muestre las sesiones enfrentadas.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E9F5E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539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mini-calendario dentro de cada tarjeta de conflicto.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Resaltar visualmente las dos sesiones que chocan en el tiempo.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conflicto se entiende de un vistazo, sin necesidad de leer todo el texto.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75808" y="35890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pic>
        <p:nvPicPr>
          <p:cNvPr id="10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37261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3 — Una sola tabla para todo tipo de dato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ORIGINAL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formato de tabla se usa para Auditoría, Horarios, Usuarios y Notificaciones.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simple de notificaciones cortas usa el mismo espacio que una tabla técnica.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no se adapta a la complejidad real de cada tipo de información.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E9F5E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539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variante "tabla densa" para datos técnicos (Auditoría, RBAC).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variante "tabla simple" para listas cortas (Notificaciones).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lista se lee según su complejidad real, sin desperdiciar ni comprimir espacio.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75808" y="35890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pic>
        <p:nvPicPr>
          <p:cNvPr id="10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37261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4 — Falta de jerarquía visual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ORIGINAL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tono de verde para toda la interfaz — los demás colores son solo de estado.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visual de saber en qué módulo se está, más allá de leer el texto.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del sistema operativo, sin identidad visual propia.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E9F5E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539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un azul secundario para reforzar la navegación y diferenciar módulos.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escala tipográfica propia con Inter para mejorar la lectura.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verde institucional como color dominante — no se pierde la identidad SENA.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75808" y="35890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pic>
        <p:nvPicPr>
          <p:cNvPr id="10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37261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identidad visual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colores, tipografía y sistema de diseño propuesto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paleta de colores propuesta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5" name="Image 0" descr="/home/claude/icons/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8205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 #00703C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institucional — acciones principales y enlaces activos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38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2480" y="17373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0" name="Image 1" descr="/home/claude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82057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97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 #1E5AA8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024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diferenciación entre módulos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76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6280" y="1737360"/>
            <a:ext cx="640080" cy="640080"/>
          </a:xfrm>
          <a:prstGeom prst="ellipse">
            <a:avLst/>
          </a:prstGeom>
          <a:solidFill>
            <a:srgbClr val="9CA3AF"/>
          </a:solidFill>
          <a:ln/>
        </p:spPr>
      </p:sp>
      <p:pic>
        <p:nvPicPr>
          <p:cNvPr id="15" name="Image 2" descr="/home/claude/icons/lay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90" y="18205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135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#F7F9F8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362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muy claro — reduce fatiga visual en jornadas largas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0F7A3D"/>
          </a:solidFill>
          <a:ln/>
        </p:spPr>
      </p:sp>
      <p:pic>
        <p:nvPicPr>
          <p:cNvPr id="20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433517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#0F7A3D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686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Publicado, disponible, confirmaciones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738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2480" y="425196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5" name="Image 4" descr="/home/claude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433517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797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#B45309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6024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revisión, conflictos pendientes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76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36280" y="4251960"/>
            <a:ext cx="640080" cy="64008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30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490" y="4335170"/>
            <a:ext cx="473659" cy="4736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135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#B91C1C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362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Errores, conflictos críticos, fallos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principal: Inter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específicamente para interfaces digitales, con buena legibilidad en tamaños pequeños.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las tablas densas del sistema (Auditoría, RBAC, Usuarios).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diferenciado para los valores de KPI del panel del director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que los indicadores se lean como un resumen ejecutivo, no como una tabla más.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definida: título de página 28pt/700, sección 20pt/600, tabla 14pt/400, KPI 32pt/700.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diseño propuesto — componentes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5" name="Image 0" descr="/home/claude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8205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variante destructiva explícita (roja)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38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2480" y="17373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0" name="Image 1" descr="/home/claude/icons/check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82057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97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024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visible bajo el campo, no solo al final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7680" y="15087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62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15" name="Image 2" descr="/home/claude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90" y="18205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135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36280" y="24688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simple y variante densa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0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433517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(nuevo)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686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persistente para flujos largos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738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2480" y="42519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25" name="Image 4" descr="/home/claude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433517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797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Breadcrumbs (nuevo)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6024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en pantallas de detalle anidadas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7680" y="4023360"/>
            <a:ext cx="3413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36280" y="42519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30" name="Image 5" descr="/home/claude/icons/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490" y="4335170"/>
            <a:ext cx="473659" cy="4736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13520" y="41879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36280" y="4983480"/>
            <a:ext cx="295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vista de agenda además del semanal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componente: Drawer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NUEVO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a los modales encadenados en los flujos más largos del sistema.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abierto mientras el usuario completa varias acciones relacionadas.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usa, por ejemplo, para agregar sesiones a un horario sin cerrar la ventana entre cada una.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mobile se convierte en una vista de pantalla completa, con botón de acción fijo en la parte inferior.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poder navegarse completamente con teclado (Tab / Escape), igual que los modales del original.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navegación — Sidebar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ORIGINAL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lateral plana, todos los ítems al mismo nivel.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 pantallas de parametrización compiten por espacio sin jerarquía.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buscar una sección directamente.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E9F5E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5392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la parametrización bajo un encabezado colapsable en el sidebar.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rápido de módulo o pantalla, útil sobre todo para el rol de soporte.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la navegación por rol — misma lógica, mejor organización.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75808" y="35890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pic>
        <p:nvPicPr>
          <p:cNvPr id="10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37261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 de pantallas clave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la nueva identidad y los nuevos componentes a los flujos reales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Dashboard del coordinador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general y los conflictos pendientes no tienen jerarquía visual entre sí.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superior "Requiere tu atención": conflictos pendientes y horarios en revisión.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inferior "Resumen general": KPIs y actividad reciente.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coordinador entra al sistema principalmente para actuar sobre pendientes, no para leer un resumen pasivo.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Crear horario completo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un modal por sesión + panel de conflictos aparte, después de publicar.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(lista)</a:t>
            </a:r>
            <a:endParaRPr lang="en-US" sz="1150" dirty="0"/>
          </a:p>
        </p:txBody>
      </p:sp>
      <p:pic>
        <p:nvPicPr>
          <p:cNvPr id="7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35204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16936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4096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54096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horario</a:t>
            </a:r>
            <a:endParaRPr lang="en-US" sz="1150" dirty="0"/>
          </a:p>
        </p:txBody>
      </p:sp>
      <p:pic>
        <p:nvPicPr>
          <p:cNvPr id="11" name="Image 1" descr="/home/claude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5204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93792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30952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30952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trabajo con drawer de sesiones — se agregan todas sin cerrar la vista</a:t>
            </a:r>
            <a:endParaRPr lang="en-US" sz="1150" dirty="0"/>
          </a:p>
        </p:txBody>
      </p:sp>
      <p:pic>
        <p:nvPicPr>
          <p:cNvPr id="15" name="Image 2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52044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70648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07808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607808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— revisión automática de conflictos en la misma pantalla</a:t>
            </a:r>
            <a:endParaRPr lang="en-US" sz="1150" dirty="0"/>
          </a:p>
        </p:txBody>
      </p:sp>
      <p:pic>
        <p:nvPicPr>
          <p:cNvPr id="19" name="Image 3" descr="/home/claude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52044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47504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84664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884664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publicación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Panel de conflictos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13-14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conflictos se explican solo con texto (tipo, horario, fecha, descripción).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Mini-calendario visual dentro de cada tarjeta de conflicto.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resaltan las dos sesiones que se solapan en el tiempo.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visual de horarios es más rápida de interpretar que una descripción textual, sobre todo cuando hay varios conflictos que revisar seguidos.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Listas y tablas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PANTALLAS AFECTADAS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Fichas, Usuarios, Documentos y Auditoría comparten un único formato de tabla.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densa: para datos técnicos con textos largos (Auditoría, RBAC, Usuarios).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simple: para listas cortas y de lectura rápida (Notificaciones, Fichas).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auditoría con nombres técnicos de eventos necesita más espacio por columna que una lista de notificaciones cortas.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Mi horario (instructor y aprendiz)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19,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semanal es la única forma de consultar el horario.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una vista de agenda (lista cronológica de sesiones), seleccionable con un tab junto al calendario.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usuarios interpretan igual de rápido una grilla; una lista cronológica es más simple de leer, especialmente en pantallas pequeñas.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Seguimiento académico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23-24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de seguimiento aparece como modal, sin contexto visible de la ficha completa.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que muestra, al mismo tiempo, un resumen de la ficha y el formulario de seguimiento.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no pierde de vista a qué ficha le está haciendo seguimiento, reduciendo el riesgo de registrar sobre la ficha equivocada.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Rediseño: Hub de parametrización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46-53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sub-secciones administrativas conviven como una lista plana, sin jerarquía entre ellas.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Reorganizar en 3 categorías: Académico (currículo, jornadas), Físico (ambientes, geografía), Sistema (monitoreo, actores, RBAC).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por afinidad temática reduce el tiempo de búsqueda frente a leer 8 opciones sueltas cada vez.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general: original vs. rediseño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9377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Mockup 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Nuestro rediseño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 plano por 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 agrupado + buscador rápido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prioridad explícita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de atención + resumen general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horario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por cada sesión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Drawer persistente con lista en vivo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formato para 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 simple y variante densa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tono de 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 + azul secundario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texto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Apoyo visual con mini-calendario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rediseñados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completos, no solo pantallas aisladas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Flujo: Crear horario — antes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— flujo tal como está construido en el mockup original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(lista)</a:t>
            </a:r>
            <a:endParaRPr lang="en-US" sz="1150" dirty="0"/>
          </a:p>
        </p:txBody>
      </p:sp>
      <p:pic>
        <p:nvPicPr>
          <p:cNvPr id="7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35204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16936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4096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54096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/ editar horario</a:t>
            </a:r>
            <a:endParaRPr lang="en-US" sz="1150" dirty="0"/>
          </a:p>
        </p:txBody>
      </p:sp>
      <p:pic>
        <p:nvPicPr>
          <p:cNvPr id="11" name="Image 1" descr="/home/claude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5204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93792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30952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30952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"Agregar sesión" (se repite por cada sesión)</a:t>
            </a:r>
            <a:endParaRPr lang="en-US" sz="1150" dirty="0"/>
          </a:p>
        </p:txBody>
      </p:sp>
      <p:pic>
        <p:nvPicPr>
          <p:cNvPr id="15" name="Image 2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52044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70648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07808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607808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"Confirmar publicación"</a:t>
            </a:r>
            <a:endParaRPr lang="en-US" sz="1150" dirty="0"/>
          </a:p>
        </p:txBody>
      </p:sp>
      <p:pic>
        <p:nvPicPr>
          <p:cNvPr id="19" name="Image 3" descr="/home/claude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52044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47504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84664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884664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conflictos (aparte, si aplica)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Flujo: Crear horario — después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REDISEÑO — el coordinador no pierde el contexto del horario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(lista)</a:t>
            </a:r>
            <a:endParaRPr lang="en-US" sz="1150" dirty="0"/>
          </a:p>
        </p:txBody>
      </p:sp>
      <p:pic>
        <p:nvPicPr>
          <p:cNvPr id="7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35204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16936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4096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54096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horario</a:t>
            </a:r>
            <a:endParaRPr lang="en-US" sz="1150" dirty="0"/>
          </a:p>
        </p:txBody>
      </p:sp>
      <p:pic>
        <p:nvPicPr>
          <p:cNvPr id="11" name="Image 1" descr="/home/claude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5204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93792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30952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30952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de sesiones (todas, sin cerrar la vista)</a:t>
            </a:r>
            <a:endParaRPr lang="en-US" sz="1150" dirty="0"/>
          </a:p>
        </p:txBody>
      </p:sp>
      <p:pic>
        <p:nvPicPr>
          <p:cNvPr id="15" name="Image 2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52044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70648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07808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607808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(conflictos en la misma pantalla)</a:t>
            </a:r>
            <a:endParaRPr lang="en-US" sz="1150" dirty="0"/>
          </a:p>
        </p:txBody>
      </p:sp>
      <p:pic>
        <p:nvPicPr>
          <p:cNvPr id="19" name="Image 3" descr="/home/claude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52044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47504" y="2834640"/>
            <a:ext cx="1773936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84664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884664" y="3291840"/>
            <a:ext cx="1499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publicación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Flujo: Parametrización — antes y después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por afinidad temática reduce el tiempo de búsqueda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parametrización</a:t>
            </a:r>
            <a:endParaRPr lang="en-US" sz="1150" dirty="0"/>
          </a:p>
        </p:txBody>
      </p:sp>
      <p:pic>
        <p:nvPicPr>
          <p:cNvPr id="7" name="Image 0" descr="/home/claude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35204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34840" y="28346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3291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plana de 8 opciones (antes) → 3 categorías agrupadas (después)</a:t>
            </a:r>
            <a:endParaRPr lang="en-US" sz="1150" dirty="0"/>
          </a:p>
        </p:txBody>
      </p:sp>
      <p:pic>
        <p:nvPicPr>
          <p:cNvPr id="11" name="Image 1" descr="/home/claude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35204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0" y="28346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6676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366760" y="3291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Sub-sección elegida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y accesibilidad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comporta el rediseño en cada tamaño de pantalla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responsive por breakpoint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13760" cy="4709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8205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(≥1024px)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29565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fijo expandido. Drawer de sesiones como panel lateral de ancho fijo. Tablas densas sin scroll horizontal.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3880" y="1508760"/>
            <a:ext cx="3413760" cy="4709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2480" y="173736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0" name="Image 1" descr="/home/claude/icons/tab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82057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97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(768-1023px)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02480" y="2468880"/>
            <a:ext cx="29565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colapsado a íconos. Drawer ocupa 60% del ancho. Tablas priorizan columnas clave.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7680" y="1508760"/>
            <a:ext cx="3413760" cy="4709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6280" y="1737360"/>
            <a:ext cx="640080" cy="64008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15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90" y="18205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13520" y="1673352"/>
            <a:ext cx="222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(&lt;768px)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36280" y="2468880"/>
            <a:ext cx="29565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pantalla completa. Tablas → tarjetas. Calendario → vista de agenda. Botones fijos abajo.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— criterios aplicados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confirmado en el original: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Skip-link, foco visible, ARIA en modales/drawers, controles ≥44px, estados con ícono + texto.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adicionales de nuestra propuesta: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mínimo 4.5:1 entre texto y fondo (WCAG 2.1 AA) en toda la nueva paleta.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completa por teclado en el nuevo componente drawer (Tab / Escape).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de formulario anunciados con aria-live, no solo visibles.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ícono con significado lleva aria-label, siguiendo el mismo criterio que ya usaba el original.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Priorización y decisiones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implementa primero y por qué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Priorización de mejoras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9377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Drawer en vez de modal de sesión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 la tarea más frecuente del coordinador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Apoyo visual en conflictos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crítica que debe entenderse sin ambigüedad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simple vs. tabla densa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 legibilidad de datos usados a diario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por zonas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eficiencia sin bloquear ninguna tarea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de parametrización agrupado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 principalmente a roles administrativos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 paleta de colores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visual, no cambia la funcionalidad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Tipografía Inter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identidad, no cambia usabilidad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diseño — por qué cambiamos esto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DISEÑO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drawer en vez del modal?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horario típico requiere varias sesiones seguidas; el drawer evita cerrar y reabrir la misma ventana repetidamente.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color secundario?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original depende casi por completo de un solo verde; el azul da una referencia visual adicional sin romper la identidad institucional.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eliminamos ninguna pantalla?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mejorar cómo se presenta la información, no reducir las funciones que el sistema ya ofrece.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rediseño en números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53/53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mantenidas — ninguna función eliminada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4043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043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6903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UX/UI de alta prioridad resueltos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078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6938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nuevos: Drawer y Breadcrumbs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41130" y="182880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003A1F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1130" y="2286000"/>
            <a:ext cx="248031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269730" y="3520440"/>
            <a:ext cx="2023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definidos en detalle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70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188720" y="2103120"/>
            <a:ext cx="9784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Rediseñar no es solamente cambiar colores: implica priorizar qué información necesita el usuario primero y cuánto le cuesta completar su tarea más frecuente.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8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Conclusión del equipo de rediseño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mockup original es un prototipo funcional y ordenado: 53 pantallas verificables, control de acceso por rol y estados consistentes.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orden en el código fue justamente lo que nos permitió analizarlo con precisión, sin inventar contenido.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mockup ordenado en su arquitectura no garantiza automáticamente la mejor experiencia para el usuario final.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rediseño no elimina ninguna función: replantea cómo se presenta la información y cuántos pasos exige cada tarea.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de mayor impacto responden a fricciones reales identificadas en los flujos del coordinador, el instructor y soporte.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011680"/>
            <a:ext cx="2194560" cy="2194560"/>
          </a:xfrm>
          <a:prstGeom prst="ellipse">
            <a:avLst/>
          </a:prstGeom>
          <a:solidFill>
            <a:srgbClr val="00703C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3" y="2296973"/>
            <a:ext cx="1623974" cy="16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Gestión de Horarios · Rediseño UX/UI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5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0703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Horarios SENA — Rediseño UX/UI · Proyecto de formación ADSO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2026-08-12T00:24:14Z</dcterms:created>
  <dcterms:modified xsi:type="dcterms:W3CDTF">2026-08-12T00:24:14Z</dcterms:modified>
</cp:coreProperties>
</file>